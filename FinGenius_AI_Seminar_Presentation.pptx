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60520"/>
            <a:ext cx="12191695" cy="274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322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Calibri"/>
              </a:rPr>
              <a:t>M.TECH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4F46E5"/>
                </a:solidFill>
                <a:latin typeface="Calibri"/>
              </a:rPr>
              <a:t>FinGenius AI</a:t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1E2140"/>
                </a:solidFill>
                <a:latin typeface="Calibri"/>
              </a:rPr>
              <a:t>Smart Personal Finance Tracker Powered by Gemini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08A"/>
                </a:solidFill>
                <a:latin typeface="Calibri"/>
              </a:rPr>
              <a:t>MERN Stack  •  Budgets  •  Goals  •  Analytics  •  AI Chat  •  Receipt OCR  •  Voice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617720"/>
            <a:ext cx="7772400" cy="178308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47548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504748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140"/>
                </a:solidFill>
                <a:latin typeface="Calibri"/>
              </a:rPr>
              <a:t>[Student Name]  |  Reg. No. [Register Number]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468112"/>
            <a:ext cx="7132320" cy="308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08A"/>
                </a:solidFill>
                <a:latin typeface="Calibri"/>
              </a:rPr>
              <a:t>M.Tech, Computer Science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576072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08A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6035040"/>
            <a:ext cx="7132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08A"/>
                </a:solidFill>
                <a:latin typeface="Calibri"/>
              </a:rPr>
              <a:t>[College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623560" cy="480060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727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7706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512064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Scattered records: </a:t>
            </a:r>
            <a:r>
              <a:rPr sz="1300" b="0">
                <a:solidFill>
                  <a:srgbClr val="64708A"/>
                </a:solidFill>
                <a:latin typeface="Calibri"/>
              </a:rPr>
              <a:t>people track expenses in notebooks or spreadsheets, with no single place for income, budget, and goals.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No intelligent insight: </a:t>
            </a:r>
            <a:r>
              <a:rPr sz="1300" b="0">
                <a:solidFill>
                  <a:srgbClr val="64708A"/>
                </a:solidFill>
                <a:latin typeface="Calibri"/>
              </a:rPr>
              <a:t>free tools simply store numbers without explaining spending patterns or suggesting improvements.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Manual entry is tedious: </a:t>
            </a:r>
            <a:r>
              <a:rPr sz="1300" b="0">
                <a:solidFill>
                  <a:srgbClr val="64708A"/>
                </a:solidFill>
                <a:latin typeface="Calibri"/>
              </a:rPr>
              <a:t>typing every transaction by hand causes many users to abandon tracking within weeks.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No natural language help: </a:t>
            </a:r>
            <a:r>
              <a:rPr sz="1300" b="0">
                <a:solidFill>
                  <a:srgbClr val="64708A"/>
                </a:solidFill>
                <a:latin typeface="Calibri"/>
              </a:rPr>
              <a:t>users cannot simply ask "How much did I spend on food?" and get a direct answer.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Privacy concerns: </a:t>
            </a:r>
            <a:r>
              <a:rPr sz="1300" b="0">
                <a:solidFill>
                  <a:srgbClr val="64708A"/>
                </a:solidFill>
                <a:latin typeface="Calibri"/>
              </a:rPr>
              <a:t>many finance apps need access to bank SMS or account details to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94960" cy="480060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727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6A34A"/>
                </a:solidFill>
                <a:latin typeface="Calibri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89204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Unified tracking: </a:t>
            </a:r>
            <a:r>
              <a:rPr sz="1300" b="0">
                <a:solidFill>
                  <a:srgbClr val="64708A"/>
                </a:solidFill>
                <a:latin typeface="Calibri"/>
              </a:rPr>
              <a:t>record expenses and income and organise them into clear categories.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Budget and goal planning: </a:t>
            </a:r>
            <a:r>
              <a:rPr sz="1300" b="0">
                <a:solidFill>
                  <a:srgbClr val="64708A"/>
                </a:solidFill>
                <a:latin typeface="Calibri"/>
              </a:rPr>
              <a:t>set monthly category budgets and savings goals with progress tracking.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AI powered chat: </a:t>
            </a:r>
            <a:r>
              <a:rPr sz="1300" b="0">
                <a:solidFill>
                  <a:srgbClr val="64708A"/>
                </a:solidFill>
                <a:latin typeface="Calibri"/>
              </a:rPr>
              <a:t>integrate Google Gemini AI to answer questions using the user's own data.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Faster data entry: </a:t>
            </a:r>
            <a:r>
              <a:rPr sz="1300" b="0">
                <a:solidFill>
                  <a:srgbClr val="64708A"/>
                </a:solidFill>
                <a:latin typeface="Calibri"/>
              </a:rPr>
              <a:t>support receipt scanning (OCR) and voice based expense entry.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1">
                <a:solidFill>
                  <a:srgbClr val="1E2140"/>
                </a:solidFill>
                <a:latin typeface="Calibri"/>
              </a:rPr>
              <a:t>Visual analytics: </a:t>
            </a:r>
            <a:r>
              <a:rPr sz="1300" b="0">
                <a:solidFill>
                  <a:srgbClr val="64708A"/>
                </a:solidFill>
                <a:latin typeface="Calibri"/>
              </a:rPr>
              <a:t>present spending and saving trends through interactive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System Architecture - Frontend &amp;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532120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CLIENT SIDE  •  React.js 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28800"/>
            <a:ext cx="5532120" cy="452628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49377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React 18 + Vite: </a:t>
            </a:r>
            <a:r>
              <a:rPr sz="1250" b="0">
                <a:solidFill>
                  <a:srgbClr val="64708A"/>
                </a:solidFill>
                <a:latin typeface="Calibri"/>
              </a:rPr>
              <a:t>component based single page application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Tailwind CSS: </a:t>
            </a:r>
            <a:r>
              <a:rPr sz="1250" b="0">
                <a:solidFill>
                  <a:srgbClr val="64708A"/>
                </a:solidFill>
                <a:latin typeface="Calibri"/>
              </a:rPr>
              <a:t>responsive glassmorphism styling, dark/light theme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Framer Motion: </a:t>
            </a:r>
            <a:r>
              <a:rPr sz="1250" b="0">
                <a:solidFill>
                  <a:srgbClr val="64708A"/>
                </a:solidFill>
                <a:latin typeface="Calibri"/>
              </a:rPr>
              <a:t>smooth page and card animations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Recharts: </a:t>
            </a:r>
            <a:r>
              <a:rPr sz="1250" b="0">
                <a:solidFill>
                  <a:srgbClr val="64708A"/>
                </a:solidFill>
                <a:latin typeface="Calibri"/>
              </a:rPr>
              <a:t>interactive analytics charts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React Router v6: </a:t>
            </a:r>
            <a:r>
              <a:rPr sz="1250" b="0">
                <a:solidFill>
                  <a:srgbClr val="64708A"/>
                </a:solidFill>
                <a:latin typeface="Calibri"/>
              </a:rPr>
              <a:t>client side routing between pages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Axios: </a:t>
            </a:r>
            <a:r>
              <a:rPr sz="1250" b="0">
                <a:solidFill>
                  <a:srgbClr val="64708A"/>
                </a:solidFill>
                <a:latin typeface="Calibri"/>
              </a:rPr>
              <a:t>REST API communication with the backend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Pages: </a:t>
            </a:r>
            <a:r>
              <a:rPr sz="1250" b="0">
                <a:solidFill>
                  <a:srgbClr val="64708A"/>
                </a:solidFill>
                <a:latin typeface="Calibri"/>
              </a:rPr>
              <a:t>Landing, Login, Register, Dashboard, Expenses, Income, Budget, Goals, Analytics, Chat,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532120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SERVER SIDE  •  Node.js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532120" cy="452628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49377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Node.js + Express.js: </a:t>
            </a:r>
            <a:r>
              <a:rPr sz="1250" b="0">
                <a:solidFill>
                  <a:srgbClr val="64708A"/>
                </a:solidFill>
                <a:latin typeface="Calibri"/>
              </a:rPr>
              <a:t>REST API server with route-controller structure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MongoDB Atlas + Mongoose: </a:t>
            </a:r>
            <a:r>
              <a:rPr sz="1250" b="0">
                <a:solidFill>
                  <a:srgbClr val="64708A"/>
                </a:solidFill>
                <a:latin typeface="Calibri"/>
              </a:rPr>
              <a:t>cloud database and schema modelling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JWT + bcryptjs: </a:t>
            </a:r>
            <a:r>
              <a:rPr sz="1250" b="0">
                <a:solidFill>
                  <a:srgbClr val="64708A"/>
                </a:solidFill>
                <a:latin typeface="Calibri"/>
              </a:rPr>
              <a:t>token based authentication, hashed passwords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Google Gemini AI: </a:t>
            </a:r>
            <a:r>
              <a:rPr sz="1250" b="0">
                <a:solidFill>
                  <a:srgbClr val="64708A"/>
                </a:solidFill>
                <a:latin typeface="Calibri"/>
              </a:rPr>
              <a:t>AI chat assistant with financial context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Tesseract.js: </a:t>
            </a:r>
            <a:r>
              <a:rPr sz="1250" b="0">
                <a:solidFill>
                  <a:srgbClr val="64708A"/>
                </a:solidFill>
                <a:latin typeface="Calibri"/>
              </a:rPr>
              <a:t>OCR engine for receipt scanning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Multer: </a:t>
            </a:r>
            <a:r>
              <a:rPr sz="1250" b="0">
                <a:solidFill>
                  <a:srgbClr val="64708A"/>
                </a:solidFill>
                <a:latin typeface="Calibri"/>
              </a:rPr>
              <a:t>file upload handling for receipt images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1">
                <a:solidFill>
                  <a:srgbClr val="1E2140"/>
                </a:solidFill>
                <a:latin typeface="Calibri"/>
              </a:rPr>
              <a:t>Middleware: </a:t>
            </a:r>
            <a:r>
              <a:rPr sz="1250" b="0">
                <a:solidFill>
                  <a:srgbClr val="64708A"/>
                </a:solidFill>
                <a:latin typeface="Calibri"/>
              </a:rPr>
              <a:t>JWT auth guard, rate limiter, input validator, error handler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Methodology - From Login to AI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D97706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6063" y="141732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Register &amp;
Login</a:t>
            </a:r>
          </a:p>
          <a:p>
            <a:pPr algn="ctr"/>
            <a:r>
              <a:rPr sz="950">
                <a:solidFill>
                  <a:srgbClr val="E4E7FF"/>
                </a:solidFill>
                <a:latin typeface="Calibri"/>
              </a:rPr>
              <a:t>JWT + bcrypt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5679" y="1581912"/>
            <a:ext cx="237744" cy="237744"/>
          </a:xfrm>
          <a:prstGeom prst="rightArrow">
            <a:avLst/>
          </a:prstGeom>
          <a:solidFill>
            <a:srgbClr val="64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21711" y="141732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ctr"/>
            <a:r>
              <a:rPr sz="950">
                <a:solidFill>
                  <a:srgbClr val="E4E7FF"/>
                </a:solidFill>
                <a:latin typeface="Calibri"/>
              </a:rPr>
              <a:t>Balance overview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21327" y="1581912"/>
            <a:ext cx="237744" cy="237744"/>
          </a:xfrm>
          <a:prstGeom prst="rightArrow">
            <a:avLst/>
          </a:prstGeom>
          <a:solidFill>
            <a:srgbClr val="64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7359" y="141732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Add
Transaction</a:t>
            </a:r>
          </a:p>
          <a:p>
            <a:pPr algn="ctr"/>
            <a:r>
              <a:rPr sz="950">
                <a:solidFill>
                  <a:srgbClr val="E4E7FF"/>
                </a:solidFill>
                <a:latin typeface="Calibri"/>
              </a:rPr>
              <a:t>Manual/OCR/Voice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6975" y="1581912"/>
            <a:ext cx="237744" cy="237744"/>
          </a:xfrm>
          <a:prstGeom prst="rightArrow">
            <a:avLst/>
          </a:prstGeom>
          <a:solidFill>
            <a:srgbClr val="64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141732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Budget &amp;
Goals</a:t>
            </a:r>
          </a:p>
          <a:p>
            <a:pPr algn="ctr"/>
            <a:r>
              <a:rPr sz="950">
                <a:solidFill>
                  <a:srgbClr val="E4E7FF"/>
                </a:solidFill>
                <a:latin typeface="Calibri"/>
              </a:rPr>
              <a:t>Category limits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32623" y="1581912"/>
            <a:ext cx="237744" cy="237744"/>
          </a:xfrm>
          <a:prstGeom prst="rightArrow">
            <a:avLst/>
          </a:prstGeom>
          <a:solidFill>
            <a:srgbClr val="64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88655" y="141732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Analytics</a:t>
            </a:r>
          </a:p>
          <a:p>
            <a:pPr algn="ctr"/>
            <a:r>
              <a:rPr sz="950">
                <a:solidFill>
                  <a:srgbClr val="E4E7FF"/>
                </a:solidFill>
                <a:latin typeface="Calibri"/>
              </a:rPr>
              <a:t>Recharts trends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88271" y="1581912"/>
            <a:ext cx="237744" cy="237744"/>
          </a:xfrm>
          <a:prstGeom prst="rightArrow">
            <a:avLst/>
          </a:prstGeom>
          <a:solidFill>
            <a:srgbClr val="64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44303" y="141732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AI Chat</a:t>
            </a:r>
          </a:p>
          <a:p>
            <a:pPr algn="ctr"/>
            <a:r>
              <a:rPr sz="950">
                <a:solidFill>
                  <a:srgbClr val="E4E7FF"/>
                </a:solidFill>
                <a:latin typeface="Calibri"/>
              </a:rPr>
              <a:t>Gemini financial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331720"/>
            <a:ext cx="1124712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▸  </a:t>
            </a:r>
            <a:r>
              <a:rPr sz="1400" b="1">
                <a:solidFill>
                  <a:srgbClr val="1E2140"/>
                </a:solidFill>
                <a:latin typeface="Calibri"/>
              </a:rPr>
              <a:t>User Authentication: </a:t>
            </a:r>
            <a:r>
              <a:rPr sz="1400" b="0">
                <a:solidFill>
                  <a:srgbClr val="64708A"/>
                </a:solidFill>
                <a:latin typeface="Calibri"/>
              </a:rPr>
              <a:t>a user registers with name, email, and password; passwords are hashed with bcryptjs (12 salt rounds) and login issues a 7-day JWT token used to authorise every later request.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▸  </a:t>
            </a:r>
            <a:r>
              <a:rPr sz="1400" b="1">
                <a:solidFill>
                  <a:srgbClr val="1E2140"/>
                </a:solidFill>
                <a:latin typeface="Calibri"/>
              </a:rPr>
              <a:t>Recording Transactions: </a:t>
            </a:r>
            <a:r>
              <a:rPr sz="1400" b="0">
                <a:solidFill>
                  <a:srgbClr val="64708A"/>
                </a:solidFill>
                <a:latin typeface="Calibri"/>
              </a:rPr>
              <a:t>expenses and income can be entered manually, extracted from a receipt photo using Tesseract.js OCR, or logged by speaking through the Web Speech API.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▸  </a:t>
            </a:r>
            <a:r>
              <a:rPr sz="1400" b="1">
                <a:solidFill>
                  <a:srgbClr val="1E2140"/>
                </a:solidFill>
                <a:latin typeface="Calibri"/>
              </a:rPr>
              <a:t>Budget and Goal Tracking: </a:t>
            </a:r>
            <a:r>
              <a:rPr sz="1400" b="0">
                <a:solidFill>
                  <a:srgbClr val="64708A"/>
                </a:solidFill>
                <a:latin typeface="Calibri"/>
              </a:rPr>
              <a:t>users set category wise monthly budgets and savings goals with a target amount; the system tracks actual spending and contribution progress automatically.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▸  </a:t>
            </a:r>
            <a:r>
              <a:rPr sz="1400" b="1">
                <a:solidFill>
                  <a:srgbClr val="1E2140"/>
                </a:solidFill>
                <a:latin typeface="Calibri"/>
              </a:rPr>
              <a:t>Analytics Generation: </a:t>
            </a:r>
            <a:r>
              <a:rPr sz="1400" b="0">
                <a:solidFill>
                  <a:srgbClr val="64708A"/>
                </a:solidFill>
                <a:latin typeface="Calibri"/>
              </a:rPr>
              <a:t>Recharts renders monthly expense trend, income vs expense, category breakdown, and savings trend charts from the stored MongoDB data.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▸  </a:t>
            </a:r>
            <a:r>
              <a:rPr sz="1400" b="1">
                <a:solidFill>
                  <a:srgbClr val="1E2140"/>
                </a:solidFill>
                <a:latin typeface="Calibri"/>
              </a:rPr>
              <a:t>AI Powered Chat: </a:t>
            </a:r>
            <a:r>
              <a:rPr sz="1400" b="0">
                <a:solidFill>
                  <a:srgbClr val="64708A"/>
                </a:solidFill>
                <a:latin typeface="Calibri"/>
              </a:rPr>
              <a:t>the backend sends the user’s financial summary (expenses by category, income, budget status, goals, recent transactions) to Google Gemini 1.5 Flash, which answers questions in plain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4F46E5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140"/>
                </a:solidFill>
                <a:latin typeface="Calibri"/>
              </a:rPr>
              <a:t>Frontend and Backend Technologies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737360"/>
          <a:ext cx="5760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</a:tblGrid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T="38100" marB="381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T="38100" marB="38100" anchor="ctr">
                    <a:solidFill>
                      <a:srgbClr val="4F46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React 18 + Vite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Frontend UI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Tailwind CSS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Responsive styling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Node.js + Express.js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Backend REST APIs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MongoDB + Mongoose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Database &amp; schema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JWT + bcryptjs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Auth &amp; security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Google Gemini AI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AI chat assistant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Tesseract.js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Receipt OCR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Web Speech API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Voice entry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Recharts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Analytics charts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92240" y="141732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152704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Dashboard • Financial Overview</a:t>
            </a:r>
          </a:p>
        </p:txBody>
      </p:sp>
      <p:pic>
        <p:nvPicPr>
          <p:cNvPr id="15" name="Picture 14" descr="Screenshot 2026-07-13 2055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716532"/>
            <a:ext cx="4937760" cy="2348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Calibri"/>
              </a:rPr>
              <a:t>LIVE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Application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6A34A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5394960" cy="452628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27048"/>
            <a:ext cx="3186684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Expenses • Search • Filter • Scan • Voice</a:t>
            </a:r>
          </a:p>
        </p:txBody>
      </p:sp>
      <p:pic>
        <p:nvPicPr>
          <p:cNvPr id="13" name="Picture 12" descr="Screenshot 2026-07-13 205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63110"/>
            <a:ext cx="5120640" cy="245532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09360" y="1417320"/>
            <a:ext cx="5394960" cy="452628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27048"/>
            <a:ext cx="2642616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AI Chat • Gemini Powered Assistant</a:t>
            </a:r>
          </a:p>
        </p:txBody>
      </p:sp>
      <p:pic>
        <p:nvPicPr>
          <p:cNvPr id="16" name="Picture 15" descr="Screenshot 2026-07-13 2057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669199"/>
            <a:ext cx="5120640" cy="2443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Calibri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Comparison with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D97706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140"/>
                </a:solidFill>
                <a:latin typeface="Calibri"/>
              </a:rPr>
              <a:t>Existing Methods vs. FinGenius AI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737360"/>
          <a:ext cx="11201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306324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T="38100" marB="38100"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Manual / Excel</a:t>
                      </a:r>
                    </a:p>
                  </a:txBody>
                  <a:tcPr marT="38100" marB="38100"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Typical Finance Apps</a:t>
                      </a:r>
                    </a:p>
                  </a:txBody>
                  <a:tcPr marT="38100" marB="38100"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FinGenius AI</a:t>
                      </a:r>
                    </a:p>
                  </a:txBody>
                  <a:tcPr marT="38100" marB="38100" anchor="ctr">
                    <a:solidFill>
                      <a:srgbClr val="D977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None / basic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Varies by app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JWT + bcrypt hashing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AI Assistance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Rare or basic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Gemini AI chatbot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Expense Entry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Manual only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Manual entry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Manual, OCR, and voice</a:t>
                      </a:r>
                    </a:p>
                  </a:txBody>
                  <a:tcPr marT="38100" marB="38100" anchor="ctr">
                    <a:solidFill>
                      <a:srgbClr val="F6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Free to paid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140"/>
                          </a:solidFill>
                          <a:latin typeface="Calibri"/>
                        </a:rPr>
                        <a:t>Free for this project</a:t>
                      </a:r>
                    </a:p>
                  </a:txBody>
                  <a:tcPr marT="38100" marB="38100" anchor="ctr">
                    <a:solidFill>
                      <a:srgbClr val="ECEE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3977639"/>
            <a:ext cx="5532120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Merits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34840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50292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AI powered insights based on the user’s real financial data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Multiple ways to log expenses - manual, receipt scan, voice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Completely free with all features unlocked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Secure - JWT authentication and hashed passwords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77639"/>
            <a:ext cx="5440680" cy="36576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434840"/>
            <a:ext cx="5440680" cy="1874519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572000"/>
            <a:ext cx="49834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No direct bank account integration yet - entries are manual or scanned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Requires an internet connection for all operations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OCR accuracy depends on the quality of the receipt image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▸  </a:t>
            </a:r>
            <a:r>
              <a:rPr sz="1200" b="0">
                <a:solidFill>
                  <a:srgbClr val="64708A"/>
                </a:solidFill>
                <a:latin typeface="Calibri"/>
              </a:rPr>
              <a:t>Voice recognition works best in Chrome or Edge browsers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140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4536"/>
            <a:ext cx="8686800" cy="238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08A"/>
                </a:solidFill>
                <a:latin typeface="Calibri"/>
              </a:rPr>
              <a:t>FinGenius AI  •  M.Tech Mini Project  •  [Student Name]  •  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4F46E5"/>
                </a:solidFill>
                <a:latin typeface="Calibri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32120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5532120" cy="393192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50292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Delivered a full-stack personal finance tracker combining expense, income, budget, and goal management with an AI chat assistant.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Integrated Google Gemini AI so users get personalised, data based answers instead of generic financial tips.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Added Receipt OCR and Voice Entry to reduce the effort of manual data entry.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Implemented secure JWT authentication and a fully responsive, modern user interface.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Provides a practical, free, all-in-one alternative to scattered manual and spreadsheet based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12700">
            <a:solidFill>
              <a:srgbClr val="DD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9834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Bank account and UPI integration for automatic transaction import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Improving OCR accuracy for a wider variety of receipt formats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Multi-language support for the UI and voice entry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Investment tracking alongside income and expenses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Predictive expense forecasting using past spending patterns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▸  </a:t>
            </a:r>
            <a:r>
              <a:rPr sz="1300" b="0">
                <a:solidFill>
                  <a:srgbClr val="64708A"/>
                </a:solidFill>
                <a:latin typeface="Calibri"/>
              </a:rPr>
              <a:t>A dedicated mobile application with push notifications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06440"/>
            <a:ext cx="12191695" cy="685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5806440"/>
            <a:ext cx="121916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