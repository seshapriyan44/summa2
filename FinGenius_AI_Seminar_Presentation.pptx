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1206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64240" cy="3227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1ADEF"/>
                </a:solidFill>
                <a:latin typeface="Calibri"/>
              </a:rPr>
              <a:t>M.TECH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FinGenius AI - Smart Personal Finance Tracker</a:t>
            </a:r>
          </a:p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An AI Powered MERN Stack Application for Expense, Budget and Goal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564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ECF9"/>
                </a:solidFill>
                <a:latin typeface="Calibri"/>
              </a:rPr>
              <a:t>Dashboard: Real-time Financial Overview with Gemini AI Chat Assistant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617720"/>
            <a:ext cx="7772400" cy="178308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47548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273"/>
                </a:solidFill>
                <a:latin typeface="Calibri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04748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3092"/>
                </a:solidFill>
                <a:latin typeface="Calibri"/>
              </a:rPr>
              <a:t>[Student Name]  |  Reg. No. [Register Number]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5468112"/>
            <a:ext cx="7132320" cy="308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433"/>
                </a:solidFill>
                <a:latin typeface="Calibri"/>
              </a:rPr>
              <a:t>M.Tech, Computer Science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5760720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273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6035040"/>
            <a:ext cx="7132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273"/>
                </a:solidFill>
                <a:latin typeface="Calibri"/>
              </a:rPr>
              <a:t>[College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623560" cy="489204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3092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Scattered records: </a:t>
            </a:r>
            <a:r>
              <a:rPr sz="1300" b="0">
                <a:solidFill>
                  <a:srgbClr val="202433"/>
                </a:solidFill>
                <a:latin typeface="Calibri"/>
              </a:rPr>
              <a:t>people track expenses in notebooks or spreadsheets, with no single place for income, budget, and goals.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No intelligent insight: </a:t>
            </a:r>
            <a:r>
              <a:rPr sz="1300" b="0">
                <a:solidFill>
                  <a:srgbClr val="202433"/>
                </a:solidFill>
                <a:latin typeface="Calibri"/>
              </a:rPr>
              <a:t>free tools simply store numbers without explaining spending patterns or suggesting improvements.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Manual entry is tedious: </a:t>
            </a:r>
            <a:r>
              <a:rPr sz="1300" b="0">
                <a:solidFill>
                  <a:srgbClr val="202433"/>
                </a:solidFill>
                <a:latin typeface="Calibri"/>
              </a:rPr>
              <a:t>typing every transaction by hand causes many users to abandon tracking within weeks.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No natural language help: </a:t>
            </a:r>
            <a:r>
              <a:rPr sz="1300" b="0">
                <a:solidFill>
                  <a:srgbClr val="202433"/>
                </a:solidFill>
                <a:latin typeface="Calibri"/>
              </a:rPr>
              <a:t>users cannot simply ask "How much did I spend on food?" and get a direct answer.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Privacy concerns: </a:t>
            </a:r>
            <a:r>
              <a:rPr sz="1300" b="0">
                <a:solidFill>
                  <a:srgbClr val="202433"/>
                </a:solidFill>
                <a:latin typeface="Calibri"/>
              </a:rPr>
              <a:t>many finance apps need access to bank SMS or account details to 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25880"/>
            <a:ext cx="5394960" cy="4892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813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3092"/>
                </a:solidFill>
                <a:latin typeface="Calibri"/>
              </a:rPr>
              <a:t>Project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920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1ADEF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Unified tracking: </a:t>
            </a:r>
            <a:r>
              <a:rPr sz="1300" b="0">
                <a:solidFill>
                  <a:srgbClr val="202433"/>
                </a:solidFill>
                <a:latin typeface="Calibri"/>
              </a:rPr>
              <a:t>record expenses and income and organise them into clear categories.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1ADEF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Budget and goal planning: </a:t>
            </a:r>
            <a:r>
              <a:rPr sz="1300" b="0">
                <a:solidFill>
                  <a:srgbClr val="202433"/>
                </a:solidFill>
                <a:latin typeface="Calibri"/>
              </a:rPr>
              <a:t>set monthly category budgets and savings goals with progress tracking.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1ADEF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AI powered chat: </a:t>
            </a:r>
            <a:r>
              <a:rPr sz="1300" b="0">
                <a:solidFill>
                  <a:srgbClr val="202433"/>
                </a:solidFill>
                <a:latin typeface="Calibri"/>
              </a:rPr>
              <a:t>integrate Google Gemini AI to answer questions using the user's own data.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1ADEF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Faster data entry: </a:t>
            </a:r>
            <a:r>
              <a:rPr sz="1300" b="0">
                <a:solidFill>
                  <a:srgbClr val="202433"/>
                </a:solidFill>
                <a:latin typeface="Calibri"/>
              </a:rPr>
              <a:t>support receipt scanning (OCR) and voice based expense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1ADEF"/>
                </a:solidFill>
                <a:latin typeface="Calibri"/>
              </a:rPr>
              <a:t>▸  </a:t>
            </a:r>
            <a:r>
              <a:rPr sz="1300" b="1">
                <a:solidFill>
                  <a:srgbClr val="202433"/>
                </a:solidFill>
                <a:latin typeface="Calibri"/>
              </a:rPr>
              <a:t>Visual analytics: </a:t>
            </a:r>
            <a:r>
              <a:rPr sz="1300" b="0">
                <a:solidFill>
                  <a:srgbClr val="202433"/>
                </a:solidFill>
                <a:latin typeface="Calibri"/>
              </a:rPr>
              <a:t>present spending and saving trends through interactive charts.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System Architecture - Frontend &amp;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384048"/>
          </a:xfrm>
          <a:prstGeom prst="roundRect">
            <a:avLst>
              <a:gd name="adj" fmla="val 20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CLIENT SIDE - React.js 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53212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React 18 + Vite: </a:t>
            </a:r>
            <a:r>
              <a:rPr sz="1250" b="0">
                <a:solidFill>
                  <a:srgbClr val="202433"/>
                </a:solidFill>
                <a:latin typeface="Calibri"/>
              </a:rPr>
              <a:t>component based single page application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Tailwind CSS: </a:t>
            </a:r>
            <a:r>
              <a:rPr sz="1250" b="0">
                <a:solidFill>
                  <a:srgbClr val="202433"/>
                </a:solidFill>
                <a:latin typeface="Calibri"/>
              </a:rPr>
              <a:t>responsive glassmorphism styling, dark/light theme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Framer Motion: </a:t>
            </a:r>
            <a:r>
              <a:rPr sz="1250" b="0">
                <a:solidFill>
                  <a:srgbClr val="202433"/>
                </a:solidFill>
                <a:latin typeface="Calibri"/>
              </a:rPr>
              <a:t>smooth page and card animations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Recharts: </a:t>
            </a:r>
            <a:r>
              <a:rPr sz="1250" b="0">
                <a:solidFill>
                  <a:srgbClr val="202433"/>
                </a:solidFill>
                <a:latin typeface="Calibri"/>
              </a:rPr>
              <a:t>interactive analytics charts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React Router v6: </a:t>
            </a:r>
            <a:r>
              <a:rPr sz="1250" b="0">
                <a:solidFill>
                  <a:srgbClr val="202433"/>
                </a:solidFill>
                <a:latin typeface="Calibri"/>
              </a:rPr>
              <a:t>client side routing between pages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Axios: </a:t>
            </a:r>
            <a:r>
              <a:rPr sz="1250" b="0">
                <a:solidFill>
                  <a:srgbClr val="202433"/>
                </a:solidFill>
                <a:latin typeface="Calibri"/>
              </a:rPr>
              <a:t>REST API communication with the backend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3092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Pages: </a:t>
            </a:r>
            <a:r>
              <a:rPr sz="1250" b="0">
                <a:solidFill>
                  <a:srgbClr val="202433"/>
                </a:solidFill>
                <a:latin typeface="Calibri"/>
              </a:rPr>
              <a:t>Landing, Login, Register, Dashboard, Expenses, Income, Budget, Goals, Analytics, Chat, Settings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532120" cy="384048"/>
          </a:xfrm>
          <a:prstGeom prst="roundRect">
            <a:avLst>
              <a:gd name="adj" fmla="val 20000"/>
            </a:avLst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SERVER SIDE - Node.js Backend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83080"/>
            <a:ext cx="553212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Node.js + Express.js: </a:t>
            </a:r>
            <a:r>
              <a:rPr sz="1250" b="0">
                <a:solidFill>
                  <a:srgbClr val="202433"/>
                </a:solidFill>
                <a:latin typeface="Calibri"/>
              </a:rPr>
              <a:t>REST API server with route-controller structure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MongoDB Atlas + Mongoose: </a:t>
            </a:r>
            <a:r>
              <a:rPr sz="1250" b="0">
                <a:solidFill>
                  <a:srgbClr val="202433"/>
                </a:solidFill>
                <a:latin typeface="Calibri"/>
              </a:rPr>
              <a:t>cloud database and schema modelling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JWT + bcryptjs: </a:t>
            </a:r>
            <a:r>
              <a:rPr sz="1250" b="0">
                <a:solidFill>
                  <a:srgbClr val="202433"/>
                </a:solidFill>
                <a:latin typeface="Calibri"/>
              </a:rPr>
              <a:t>token based authentication, hashed passwords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Google Gemini AI: </a:t>
            </a:r>
            <a:r>
              <a:rPr sz="1250" b="0">
                <a:solidFill>
                  <a:srgbClr val="202433"/>
                </a:solidFill>
                <a:latin typeface="Calibri"/>
              </a:rPr>
              <a:t>AI chat assistant with financial context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Tesseract.js: </a:t>
            </a:r>
            <a:r>
              <a:rPr sz="1250" b="0">
                <a:solidFill>
                  <a:srgbClr val="202433"/>
                </a:solidFill>
                <a:latin typeface="Calibri"/>
              </a:rPr>
              <a:t>OCR engine for receipt scanning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Multer: </a:t>
            </a:r>
            <a:r>
              <a:rPr sz="1250" b="0">
                <a:solidFill>
                  <a:srgbClr val="202433"/>
                </a:solidFill>
                <a:latin typeface="Calibri"/>
              </a:rPr>
              <a:t>file upload handling for receipt images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F7F1B"/>
                </a:solidFill>
                <a:latin typeface="Calibri"/>
              </a:rPr>
              <a:t>▸  </a:t>
            </a:r>
            <a:r>
              <a:rPr sz="1250" b="1">
                <a:solidFill>
                  <a:srgbClr val="202433"/>
                </a:solidFill>
                <a:latin typeface="Calibri"/>
              </a:rPr>
              <a:t>Middleware: </a:t>
            </a:r>
            <a:r>
              <a:rPr sz="1250" b="0">
                <a:solidFill>
                  <a:srgbClr val="202433"/>
                </a:solidFill>
                <a:latin typeface="Calibri"/>
              </a:rPr>
              <a:t>JWT auth guard, rate limiter, input validator, error handler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Methodology - From Login to AI Insight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6063" y="1298448"/>
            <a:ext cx="1481328" cy="566928"/>
          </a:xfrm>
          <a:prstGeom prst="roundRect">
            <a:avLst>
              <a:gd name="adj" fmla="val 12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Register &amp;
Login</a:t>
            </a:r>
          </a:p>
          <a:p>
            <a:pPr algn="ctr"/>
            <a:r>
              <a:rPr sz="950">
                <a:solidFill>
                  <a:srgbClr val="E7EEFA"/>
                </a:solidFill>
                <a:latin typeface="Calibri"/>
              </a:rPr>
              <a:t>JWT + bcrypt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65679" y="1463039"/>
            <a:ext cx="237744" cy="237744"/>
          </a:xfrm>
          <a:prstGeom prst="rightArrow">
            <a:avLst/>
          </a:prstGeom>
          <a:solidFill>
            <a:srgbClr val="5A6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21711" y="1298448"/>
            <a:ext cx="1481328" cy="566928"/>
          </a:xfrm>
          <a:prstGeom prst="roundRect">
            <a:avLst>
              <a:gd name="adj" fmla="val 12000"/>
            </a:avLst>
          </a:prstGeom>
          <a:solidFill>
            <a:srgbClr val="01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Dashboard</a:t>
            </a:r>
          </a:p>
          <a:p>
            <a:pPr algn="ctr"/>
            <a:r>
              <a:rPr sz="950">
                <a:solidFill>
                  <a:srgbClr val="E7EEFA"/>
                </a:solidFill>
                <a:latin typeface="Calibri"/>
              </a:rPr>
              <a:t>Balance overview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21327" y="1463039"/>
            <a:ext cx="237744" cy="237744"/>
          </a:xfrm>
          <a:prstGeom prst="rightArrow">
            <a:avLst/>
          </a:prstGeom>
          <a:solidFill>
            <a:srgbClr val="5A6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7359" y="1298448"/>
            <a:ext cx="1481328" cy="566928"/>
          </a:xfrm>
          <a:prstGeom prst="roundRect">
            <a:avLst>
              <a:gd name="adj" fmla="val 12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Add
Transaction</a:t>
            </a:r>
          </a:p>
          <a:p>
            <a:pPr algn="ctr"/>
            <a:r>
              <a:rPr sz="950">
                <a:solidFill>
                  <a:srgbClr val="E7EEFA"/>
                </a:solidFill>
                <a:latin typeface="Calibri"/>
              </a:rPr>
              <a:t>Manual/OCR/Voice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76975" y="1463039"/>
            <a:ext cx="237744" cy="237744"/>
          </a:xfrm>
          <a:prstGeom prst="rightArrow">
            <a:avLst/>
          </a:prstGeom>
          <a:solidFill>
            <a:srgbClr val="5A6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33007" y="1298448"/>
            <a:ext cx="1481328" cy="566928"/>
          </a:xfrm>
          <a:prstGeom prst="roundRect">
            <a:avLst>
              <a:gd name="adj" fmla="val 12000"/>
            </a:avLst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Budget &amp;
Goals</a:t>
            </a:r>
          </a:p>
          <a:p>
            <a:pPr algn="ctr"/>
            <a:r>
              <a:rPr sz="950">
                <a:solidFill>
                  <a:srgbClr val="E7EEFA"/>
                </a:solidFill>
                <a:latin typeface="Calibri"/>
              </a:rPr>
              <a:t>Category limits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732623" y="1463039"/>
            <a:ext cx="237744" cy="237744"/>
          </a:xfrm>
          <a:prstGeom prst="rightArrow">
            <a:avLst/>
          </a:prstGeom>
          <a:solidFill>
            <a:srgbClr val="5A6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88655" y="1298448"/>
            <a:ext cx="1481328" cy="566928"/>
          </a:xfrm>
          <a:prstGeom prst="roundRect">
            <a:avLst>
              <a:gd name="adj" fmla="val 12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Analytics</a:t>
            </a:r>
          </a:p>
          <a:p>
            <a:pPr algn="ctr"/>
            <a:r>
              <a:rPr sz="950">
                <a:solidFill>
                  <a:srgbClr val="E7EEFA"/>
                </a:solidFill>
                <a:latin typeface="Calibri"/>
              </a:rPr>
              <a:t>Recharts trends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88271" y="1463039"/>
            <a:ext cx="237744" cy="237744"/>
          </a:xfrm>
          <a:prstGeom prst="rightArrow">
            <a:avLst/>
          </a:prstGeom>
          <a:solidFill>
            <a:srgbClr val="5A6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44303" y="1298448"/>
            <a:ext cx="1481328" cy="566928"/>
          </a:xfrm>
          <a:prstGeom prst="roundRect">
            <a:avLst>
              <a:gd name="adj" fmla="val 12000"/>
            </a:avLst>
          </a:prstGeom>
          <a:solidFill>
            <a:srgbClr val="01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AI Chat</a:t>
            </a:r>
          </a:p>
          <a:p>
            <a:pPr algn="ctr"/>
            <a:r>
              <a:rPr sz="950">
                <a:solidFill>
                  <a:srgbClr val="E7EEFA"/>
                </a:solidFill>
                <a:latin typeface="Calibri"/>
              </a:rPr>
              <a:t>Gemini financial 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148840"/>
            <a:ext cx="11247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3092"/>
                </a:solidFill>
                <a:latin typeface="Calibri"/>
              </a:rPr>
              <a:t>User Authentication: </a:t>
            </a:r>
            <a:r>
              <a:rPr sz="1400" b="0">
                <a:solidFill>
                  <a:srgbClr val="202433"/>
                </a:solidFill>
                <a:latin typeface="Calibri"/>
              </a:rPr>
              <a:t>a user registers with name, email, and password; passwords are hashed with bcryptjs (12 salt rounds) and login issues a 7-day JWT token used to authorise every later request.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3092"/>
                </a:solidFill>
                <a:latin typeface="Calibri"/>
              </a:rPr>
              <a:t>Recording Transactions: </a:t>
            </a:r>
            <a:r>
              <a:rPr sz="1400" b="0">
                <a:solidFill>
                  <a:srgbClr val="202433"/>
                </a:solidFill>
                <a:latin typeface="Calibri"/>
              </a:rPr>
              <a:t>expenses and income can be entered manually, extracted from a receipt photo using Tesseract.js OCR, or logged by speaking through the Web Speech API.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3092"/>
                </a:solidFill>
                <a:latin typeface="Calibri"/>
              </a:rPr>
              <a:t>Budget and Goal Tracking: </a:t>
            </a:r>
            <a:r>
              <a:rPr sz="1400" b="0">
                <a:solidFill>
                  <a:srgbClr val="202433"/>
                </a:solidFill>
                <a:latin typeface="Calibri"/>
              </a:rPr>
              <a:t>users set category wise monthly budgets and savings goals with a target amount; the system tracks actual spending and contribution progress automatically.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3092"/>
                </a:solidFill>
                <a:latin typeface="Calibri"/>
              </a:rPr>
              <a:t>Analytics Generation: </a:t>
            </a:r>
            <a:r>
              <a:rPr sz="1400" b="0">
                <a:solidFill>
                  <a:srgbClr val="202433"/>
                </a:solidFill>
                <a:latin typeface="Calibri"/>
              </a:rPr>
              <a:t>Recharts renders monthly expense trend, income vs expense, category breakdown, and savings trend charts from the stored MongoDB data.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3092"/>
                </a:solidFill>
                <a:latin typeface="Calibri"/>
              </a:rPr>
              <a:t>AI Powered Chat: </a:t>
            </a:r>
            <a:r>
              <a:rPr sz="1400" b="0">
                <a:solidFill>
                  <a:srgbClr val="202433"/>
                </a:solidFill>
                <a:latin typeface="Calibri"/>
              </a:rPr>
              <a:t>the backend sends the user’s financial summary (expenses by category, income, budget status, goals, recent transactions) to Google Gemini 1.5 Flash, which answers questions in plain language.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433"/>
                </a:solidFill>
                <a:latin typeface="Calibri"/>
              </a:rPr>
              <a:t>Frontend and Backend Technologies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37360"/>
          <a:ext cx="57607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</a:tblGrid>
              <a:tr h="3108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T="38100" marB="38100" anchor="ctr">
                    <a:solidFill>
                      <a:srgbClr val="0030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T="38100" marB="38100" anchor="ctr">
                    <a:solidFill>
                      <a:srgbClr val="00309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React 18 + Vite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Frontend UI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Tailwind CSS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Responsive styling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Node.js + Express.js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Backend REST APIs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MongoDB + Mongoose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Database &amp; schema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JWT + bcryptjs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Auth &amp; security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Google Gemini AI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AI chat assistant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Tesseract.js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Receipt OCR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Web Speech API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Voice entry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Recharts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Analytics charts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92240" y="1325880"/>
            <a:ext cx="52120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435607"/>
            <a:ext cx="2331720" cy="310896"/>
          </a:xfrm>
          <a:prstGeom prst="roundRect">
            <a:avLst>
              <a:gd name="adj" fmla="val 25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Dashboard - Financial Overview</a:t>
            </a:r>
          </a:p>
        </p:txBody>
      </p:sp>
      <p:pic>
        <p:nvPicPr>
          <p:cNvPr id="13" name="Picture 12" descr="Screenshot 2026-07-13 205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70812"/>
            <a:ext cx="4937760" cy="2348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LIVE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Application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98448"/>
            <a:ext cx="539496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3186684" cy="310896"/>
          </a:xfrm>
          <a:prstGeom prst="roundRect">
            <a:avLst>
              <a:gd name="adj" fmla="val 25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Expenses • Search • Filter • Scan • Voice</a:t>
            </a:r>
          </a:p>
        </p:txBody>
      </p:sp>
      <p:pic>
        <p:nvPicPr>
          <p:cNvPr id="11" name="Picture 10" descr="Screenshot 2026-07-13 205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89958"/>
            <a:ext cx="5120640" cy="245532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1298448"/>
            <a:ext cx="539496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6520" y="1408176"/>
            <a:ext cx="2642616" cy="310896"/>
          </a:xfrm>
          <a:prstGeom prst="roundRect">
            <a:avLst>
              <a:gd name="adj" fmla="val 25000"/>
            </a:avLst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AI Chat • Gemini Powered Assistant</a:t>
            </a:r>
          </a:p>
        </p:txBody>
      </p:sp>
      <p:pic>
        <p:nvPicPr>
          <p:cNvPr id="14" name="Picture 13" descr="Screenshot 2026-07-13 2057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596047"/>
            <a:ext cx="5120640" cy="24431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Comparison with Existing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433"/>
                </a:solidFill>
                <a:latin typeface="Calibri"/>
              </a:rPr>
              <a:t>Existing Methods vs. FinGenius AI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37360"/>
          <a:ext cx="11201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0632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T="38100" marB="38100" anchor="ctr">
                    <a:solidFill>
                      <a:srgbClr val="0030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Manual / Excel</a:t>
                      </a:r>
                    </a:p>
                  </a:txBody>
                  <a:tcPr marT="38100" marB="38100" anchor="ctr">
                    <a:solidFill>
                      <a:srgbClr val="0030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Typical Finance Apps</a:t>
                      </a:r>
                    </a:p>
                  </a:txBody>
                  <a:tcPr marT="38100" marB="38100" anchor="ctr">
                    <a:solidFill>
                      <a:srgbClr val="0030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FinGenius AI</a:t>
                      </a:r>
                    </a:p>
                  </a:txBody>
                  <a:tcPr marT="38100" marB="38100" anchor="ctr">
                    <a:solidFill>
                      <a:srgbClr val="0030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None / basic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Varies by app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JWT + bcrypt hashing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AI Assistance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Rare or basic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Gemini AI chatbot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Expense Entry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Manual only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Manual entry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Manual, OCR, and voice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Free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Free to paid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433"/>
                          </a:solidFill>
                          <a:latin typeface="Calibri"/>
                        </a:rPr>
                        <a:t>Free for this project</a:t>
                      </a:r>
                    </a:p>
                  </a:txBody>
                  <a:tcPr marT="38100" marB="381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3977639"/>
            <a:ext cx="5532120" cy="365760"/>
          </a:xfrm>
          <a:prstGeom prst="roundRect">
            <a:avLst>
              <a:gd name="adj" fmla="val 20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480560"/>
            <a:ext cx="553212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03092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AI powered insights based on the user’s real financial data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03092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Multiple ways to log expenses - manual, receipt scan, voice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03092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Completely free with all features unlocked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03092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Secure - JWT authentication and hashed passwords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77639"/>
            <a:ext cx="5440680" cy="365760"/>
          </a:xfrm>
          <a:prstGeom prst="roundRect">
            <a:avLst>
              <a:gd name="adj" fmla="val 20000"/>
            </a:avLst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480560"/>
            <a:ext cx="54406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F7F1B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No direct bank account integration yet - entries are manual or scanned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F7F1B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Requires an internet connection for all operations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F7F1B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OCR accuracy depends on the quality of the receipt image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F7F1B"/>
                </a:solidFill>
                <a:latin typeface="Calibri"/>
              </a:rPr>
              <a:t>▸  </a:t>
            </a:r>
            <a:r>
              <a:rPr sz="1200" b="0">
                <a:solidFill>
                  <a:srgbClr val="202433"/>
                </a:solidFill>
                <a:latin typeface="Calibri"/>
              </a:rPr>
              <a:t>Voice recognition works best in Chrome or Edge browsers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0233"/>
          </a:xfrm>
          <a:prstGeom prst="rect">
            <a:avLst/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01ADEF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7782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1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alibri"/>
              </a:rPr>
              <a:t>M.Tech Mini Project  |  [Student Name]  |  [College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5532120" cy="365760"/>
          </a:xfrm>
          <a:prstGeom prst="roundRect">
            <a:avLst>
              <a:gd name="adj" fmla="val 20000"/>
            </a:avLst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55321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Delivered a full-stack personal finance tracker combining expense, income, budget, and goal management with an AI chat assistant.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Integrated Google Gemini AI so users get personalised, data based answers instead of generic financial tips.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Added Receipt OCR and Voice Entry to reduce the effort of manual data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Implemented secure JWT authentication and a fully responsive, modern user interface.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092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Provides a practical, free, all-in-one alternative to scattered manual and spreadsheet based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98448"/>
            <a:ext cx="5440680" cy="365760"/>
          </a:xfrm>
          <a:prstGeom prst="roundRect">
            <a:avLst>
              <a:gd name="adj" fmla="val 20000"/>
            </a:avLst>
          </a:prstGeom>
          <a:solidFill>
            <a:srgbClr val="EF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44068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F7F1B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Bank account and UPI integration for automatic transaction import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F7F1B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Improving OCR accuracy for a wider variety of receipt formats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F7F1B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Multi-language support for the UI and voice entry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F7F1B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Investment tracking alongside income and expenses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F7F1B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Predictive expense forecasting using past spending patterns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F7F1B"/>
                </a:solidFill>
                <a:latin typeface="Calibri"/>
              </a:rPr>
              <a:t>▸  </a:t>
            </a:r>
            <a:r>
              <a:rPr sz="1300" b="0">
                <a:solidFill>
                  <a:srgbClr val="202433"/>
                </a:solidFill>
                <a:latin typeface="Calibri"/>
              </a:rPr>
              <a:t>A dedicated mobile application with push notifications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989320"/>
            <a:ext cx="12191695" cy="557784"/>
          </a:xfrm>
          <a:prstGeom prst="rect">
            <a:avLst/>
          </a:prstGeom>
          <a:solidFill>
            <a:srgbClr val="003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5989320"/>
            <a:ext cx="12191695" cy="557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