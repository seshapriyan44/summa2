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4" r:id="rId4"/>
    <p:sldId id="258" r:id="rId5"/>
    <p:sldId id="280" r:id="rId6"/>
    <p:sldId id="281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82" r:id="rId23"/>
    <p:sldId id="276" r:id="rId24"/>
    <p:sldId id="277" r:id="rId25"/>
    <p:sldId id="279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2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CF802-7A8E-457E-A5BB-57F8C9324F60}" type="datetimeFigureOut">
              <a:rPr lang="en-IN" smtClean="0"/>
              <a:t>05-05-2026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804C7-360D-450D-BC04-5CAF27F06F4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765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804C7-360D-450D-BC04-5CAF27F06F4D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2570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2400"/>
            <a:ext cx="9144000" cy="256540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1F91226-0855-4612-8AE1-CA28EACD552C}" type="datetime1">
              <a:rPr lang="en-IN" smtClean="0"/>
              <a:pPr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2DF866A-337D-4737-BA1D-67906794DCE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B1087A-E70F-AB0D-EEB4-08B772F12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52461" y="254289"/>
            <a:ext cx="6287077" cy="214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59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01"/>
            <a:ext cx="10515600" cy="1325563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697"/>
            <a:ext cx="10515600" cy="4589176"/>
          </a:xfrm>
        </p:spPr>
        <p:txBody>
          <a:bodyPr>
            <a:normAutofit/>
          </a:bodyPr>
          <a:lstStyle>
            <a:lvl1pPr>
              <a:defRPr sz="26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6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6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6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6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AC52C39-07A3-44A7-82EA-9601952F94FE}" type="datetime1">
              <a:rPr lang="en-IN" smtClean="0"/>
              <a:pPr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2DF866A-337D-4737-BA1D-67906794DCE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B1087A-E70F-AB0D-EEB4-08B772F12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1180" y="185738"/>
            <a:ext cx="1787758" cy="60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53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4073F-E1D1-43BC-899B-B681F8130535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F866A-337D-4737-BA1D-67906794DCE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371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597159" y="2692399"/>
            <a:ext cx="11038114" cy="343781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IN" b="1" dirty="0"/>
              <a:t>Integration of cloud manufacturing and cyber-physical systems in the era of industry 4.0 - </a:t>
            </a:r>
          </a:p>
          <a:p>
            <a:pPr>
              <a:lnSpc>
                <a:spcPct val="120000"/>
              </a:lnSpc>
            </a:pPr>
            <a:r>
              <a:rPr lang="en-IN" b="1" dirty="0"/>
              <a:t>An Open Platform Communication - Unified Architecture (OPC UA) approach</a:t>
            </a:r>
          </a:p>
          <a:p>
            <a:endParaRPr lang="en-IN" b="1" dirty="0"/>
          </a:p>
          <a:p>
            <a:r>
              <a:rPr lang="en-GB" b="1" dirty="0"/>
              <a:t>Authors:</a:t>
            </a:r>
            <a:r>
              <a:rPr lang="en-GB" dirty="0"/>
              <a:t> Tang Ji, Xun Xu</a:t>
            </a:r>
          </a:p>
          <a:p>
            <a:r>
              <a:rPr lang="en-GB" b="1" dirty="0"/>
              <a:t>Journal:</a:t>
            </a:r>
            <a:r>
              <a:rPr lang="en-GB" dirty="0"/>
              <a:t> Robotics and Computer-Integrated Manufacturing</a:t>
            </a:r>
          </a:p>
          <a:p>
            <a:r>
              <a:rPr lang="en-GB" b="1" dirty="0"/>
              <a:t>Year:</a:t>
            </a:r>
            <a:r>
              <a:rPr lang="en-GB" dirty="0"/>
              <a:t> 2025</a:t>
            </a:r>
          </a:p>
          <a:p>
            <a:r>
              <a:rPr lang="en-GB" b="1" dirty="0"/>
              <a:t>IF:</a:t>
            </a:r>
            <a:r>
              <a:rPr lang="en-GB" dirty="0"/>
              <a:t> 11.2</a:t>
            </a:r>
          </a:p>
          <a:p>
            <a:r>
              <a:rPr lang="en-GB" b="1" dirty="0"/>
              <a:t>Name:</a:t>
            </a:r>
            <a:r>
              <a:rPr lang="en-GB" dirty="0"/>
              <a:t> Seshapriyan T</a:t>
            </a:r>
          </a:p>
          <a:p>
            <a:r>
              <a:rPr lang="nn-NO" b="1" dirty="0"/>
              <a:t>Regr No.:</a:t>
            </a:r>
            <a:r>
              <a:rPr lang="nn-NO" dirty="0"/>
              <a:t> 127033016</a:t>
            </a:r>
          </a:p>
          <a:p>
            <a:r>
              <a:rPr lang="en-GB" dirty="0"/>
              <a:t>M.Tech. CSE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9F42-9344-4798-B913-504844D7B30C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</p:spTree>
    <p:extLst>
      <p:ext uri="{BB962C8B-B14F-4D97-AF65-F5344CB8AC3E}">
        <p14:creationId xmlns:p14="http://schemas.microsoft.com/office/powerpoint/2010/main" val="209988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Presentation Outline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600" dirty="0"/>
              <a:t>Background and motivation</a:t>
            </a:r>
          </a:p>
          <a:p>
            <a:r>
              <a:rPr lang="en-IN" sz="2600" dirty="0"/>
              <a:t>Industry 4.0 and Cyber - Physical Systems (CPS)</a:t>
            </a:r>
          </a:p>
          <a:p>
            <a:r>
              <a:rPr lang="en-IN" sz="2600" dirty="0"/>
              <a:t>Overview of Cloud Manufacturing</a:t>
            </a:r>
          </a:p>
          <a:p>
            <a:r>
              <a:rPr lang="en-IN" sz="2600" dirty="0"/>
              <a:t>Integration challenges in smart manufacturing</a:t>
            </a:r>
          </a:p>
          <a:p>
            <a:r>
              <a:rPr lang="en-IN" sz="2600" dirty="0"/>
              <a:t>Role of OPC UA as a communication standard</a:t>
            </a:r>
          </a:p>
          <a:p>
            <a:r>
              <a:rPr lang="en-IN" sz="2600" dirty="0"/>
              <a:t>Proposed hybrid CPS </a:t>
            </a:r>
            <a:r>
              <a:rPr lang="en-IN" dirty="0"/>
              <a:t>-</a:t>
            </a:r>
            <a:r>
              <a:rPr lang="en-IN" sz="2600" dirty="0"/>
              <a:t> Cloud architecture</a:t>
            </a:r>
          </a:p>
          <a:p>
            <a:r>
              <a:rPr lang="en-IN" sz="2600" dirty="0"/>
              <a:t>Advantages and limitations of the approach</a:t>
            </a:r>
          </a:p>
          <a:p>
            <a:r>
              <a:rPr lang="en-IN" sz="2600" dirty="0"/>
              <a:t>Conclusion and future research directions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A736-1A04-474F-8373-7E366BD28BC3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8311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en-GB" dirty="0"/>
              <a:t>To address t</a:t>
            </a:r>
            <a:r>
              <a:rPr lang="en-IN" dirty="0"/>
              <a:t>he communication issues</a:t>
            </a:r>
            <a:r>
              <a:rPr lang="en-GB" dirty="0"/>
              <a:t>, the authors proposed an OPC UA- based hybrid architecture that integrates Cloud Manufacturing and Cyber -Physical Systems. </a:t>
            </a:r>
          </a:p>
          <a:p>
            <a:pPr algn="just">
              <a:lnSpc>
                <a:spcPct val="100000"/>
              </a:lnSpc>
            </a:pPr>
            <a:endParaRPr lang="en-GB" dirty="0"/>
          </a:p>
          <a:p>
            <a:pPr algn="just">
              <a:lnSpc>
                <a:spcPct val="100000"/>
              </a:lnSpc>
            </a:pPr>
            <a:r>
              <a:rPr lang="en-GB" dirty="0"/>
              <a:t>The proposed framework enables secure, interoperable, and real-time communication across physical machines, cloud services, and enterprise applications.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79E3-1212-417A-B8B4-736587DF209E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490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Industry 4.0 aims at smart and connected manufacturing</a:t>
            </a:r>
          </a:p>
          <a:p>
            <a:pPr>
              <a:lnSpc>
                <a:spcPct val="100000"/>
              </a:lnSpc>
            </a:pPr>
            <a:r>
              <a:rPr lang="en-IN" dirty="0"/>
              <a:t>Traditional manufacturing systems are isolated</a:t>
            </a:r>
          </a:p>
          <a:p>
            <a:pPr>
              <a:lnSpc>
                <a:spcPct val="100000"/>
              </a:lnSpc>
            </a:pPr>
            <a:r>
              <a:rPr lang="en-IN" dirty="0"/>
              <a:t>Cloud Manufacturing enables service-oriented production</a:t>
            </a:r>
          </a:p>
          <a:p>
            <a:pPr>
              <a:lnSpc>
                <a:spcPct val="100000"/>
              </a:lnSpc>
            </a:pPr>
            <a:r>
              <a:rPr lang="en-IN" dirty="0"/>
              <a:t>Cyber-Physical Systems (CPS) connect physical and digital worlds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Supports real-time monitoring and optimisation</a:t>
            </a:r>
            <a:endParaRPr lang="en-IN" sz="2200" dirty="0"/>
          </a:p>
          <a:p>
            <a:pPr>
              <a:lnSpc>
                <a:spcPct val="100000"/>
              </a:lnSpc>
            </a:pPr>
            <a:r>
              <a:rPr lang="en-IN" dirty="0"/>
              <a:t>Integration of Cloud Manufacturing and CPS is still challenging</a:t>
            </a:r>
          </a:p>
          <a:p>
            <a:pPr>
              <a:lnSpc>
                <a:spcPct val="100000"/>
              </a:lnSpc>
            </a:pPr>
            <a:r>
              <a:rPr lang="en-IN" dirty="0"/>
              <a:t>Communication standards play a critical role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11FA3-1ED6-457F-9ECB-D03FD1D00E4F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893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6DD4-4B44-8C8D-B9C2-6F97A4A0D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96EBB-AE3E-D862-4B87-6AAC56D0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2C39-07A3-44A7-82EA-9601952F94FE}" type="datetime1">
              <a:rPr lang="en-IN" smtClean="0"/>
              <a:pPr/>
              <a:t>05-05-2026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6C411-3CE8-6C73-2F0F-0D0CDA8EF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Integration of cloud manufacturing and cyber-physical systems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B97F3-64E0-2C9D-033B-8F560C79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5</a:t>
            </a:fld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A3070F-22FC-C851-482D-6320E64A9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12815"/>
              </p:ext>
            </p:extLst>
          </p:nvPr>
        </p:nvGraphicFramePr>
        <p:xfrm>
          <a:off x="410547" y="1615404"/>
          <a:ext cx="11271378" cy="4269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754">
                  <a:extLst>
                    <a:ext uri="{9D8B030D-6E8A-4147-A177-3AD203B41FA5}">
                      <a16:colId xmlns:a16="http://schemas.microsoft.com/office/drawing/2014/main" val="2081212764"/>
                    </a:ext>
                  </a:extLst>
                </a:gridCol>
                <a:gridCol w="3375054">
                  <a:extLst>
                    <a:ext uri="{9D8B030D-6E8A-4147-A177-3AD203B41FA5}">
                      <a16:colId xmlns:a16="http://schemas.microsoft.com/office/drawing/2014/main" val="2019426574"/>
                    </a:ext>
                  </a:extLst>
                </a:gridCol>
                <a:gridCol w="1595554">
                  <a:extLst>
                    <a:ext uri="{9D8B030D-6E8A-4147-A177-3AD203B41FA5}">
                      <a16:colId xmlns:a16="http://schemas.microsoft.com/office/drawing/2014/main" val="1625699680"/>
                    </a:ext>
                  </a:extLst>
                </a:gridCol>
                <a:gridCol w="2332634">
                  <a:extLst>
                    <a:ext uri="{9D8B030D-6E8A-4147-A177-3AD203B41FA5}">
                      <a16:colId xmlns:a16="http://schemas.microsoft.com/office/drawing/2014/main" val="3349021913"/>
                    </a:ext>
                  </a:extLst>
                </a:gridCol>
                <a:gridCol w="3256382">
                  <a:extLst>
                    <a:ext uri="{9D8B030D-6E8A-4147-A177-3AD203B41FA5}">
                      <a16:colId xmlns:a16="http://schemas.microsoft.com/office/drawing/2014/main" val="4193033527"/>
                    </a:ext>
                  </a:extLst>
                </a:gridCol>
              </a:tblGrid>
              <a:tr h="649668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(with Year)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3658276"/>
                  </a:ext>
                </a:extLst>
              </a:tr>
              <a:tr h="1224577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 Driven Smart Manufacturing - 2022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Fei Tao,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Industrial Informatics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digital twin framework for real-time monitoring and optimisation of manufacturing systems.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740405"/>
                  </a:ext>
                </a:extLst>
              </a:tr>
              <a:tr h="1224446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Manufacturing Service </a:t>
                      </a: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 - 2021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Zhang,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Industrial Informatics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service-oriented cloud manufacturing platform for efficient resource sharing and scheduling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832061"/>
                  </a:ext>
                </a:extLst>
              </a:tr>
              <a:tr h="117038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 and Big Data Towards Smart Manufacturing and </a:t>
                      </a:r>
                    </a:p>
                    <a:p>
                      <a:r>
                        <a:rPr lang="en-GB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Industry 4.0 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Qinglin Qi, Han So,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digital twin, big data, and CPS for intelligent manufacturing systems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7652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702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C58BF-1CBF-D6DD-604C-6DE96AA6E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(contd.)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7460E-03E1-E47A-405B-3D8CB8DE8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2C39-07A3-44A7-82EA-9601952F94FE}" type="datetime1">
              <a:rPr lang="en-IN" smtClean="0"/>
              <a:pPr/>
              <a:t>05-05-2026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ECC5-30FF-E18C-BBDA-A6CEC17B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Integration of cloud manufacturing and cyber-physical systems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FDBC8-F670-29C6-7124-CC30A2C4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6</a:t>
            </a:fld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C0066C-914B-D207-1CDB-F60213C86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962489"/>
              </p:ext>
            </p:extLst>
          </p:nvPr>
        </p:nvGraphicFramePr>
        <p:xfrm>
          <a:off x="410547" y="1615405"/>
          <a:ext cx="11271378" cy="3017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754">
                  <a:extLst>
                    <a:ext uri="{9D8B030D-6E8A-4147-A177-3AD203B41FA5}">
                      <a16:colId xmlns:a16="http://schemas.microsoft.com/office/drawing/2014/main" val="2081212764"/>
                    </a:ext>
                  </a:extLst>
                </a:gridCol>
                <a:gridCol w="3380414">
                  <a:extLst>
                    <a:ext uri="{9D8B030D-6E8A-4147-A177-3AD203B41FA5}">
                      <a16:colId xmlns:a16="http://schemas.microsoft.com/office/drawing/2014/main" val="2019426574"/>
                    </a:ext>
                  </a:extLst>
                </a:gridCol>
                <a:gridCol w="1590194">
                  <a:extLst>
                    <a:ext uri="{9D8B030D-6E8A-4147-A177-3AD203B41FA5}">
                      <a16:colId xmlns:a16="http://schemas.microsoft.com/office/drawing/2014/main" val="1625699680"/>
                    </a:ext>
                  </a:extLst>
                </a:gridCol>
                <a:gridCol w="2323303">
                  <a:extLst>
                    <a:ext uri="{9D8B030D-6E8A-4147-A177-3AD203B41FA5}">
                      <a16:colId xmlns:a16="http://schemas.microsoft.com/office/drawing/2014/main" val="3349021913"/>
                    </a:ext>
                  </a:extLst>
                </a:gridCol>
                <a:gridCol w="3265713">
                  <a:extLst>
                    <a:ext uri="{9D8B030D-6E8A-4147-A177-3AD203B41FA5}">
                      <a16:colId xmlns:a16="http://schemas.microsoft.com/office/drawing/2014/main" val="4193033527"/>
                    </a:ext>
                  </a:extLst>
                </a:gridCol>
              </a:tblGrid>
              <a:tr h="623942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(with Year)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3658276"/>
                  </a:ext>
                </a:extLst>
              </a:tr>
              <a:tr h="1156996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 in Manufacturing: Review and Challenges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Dimitris</a:t>
                      </a:r>
                      <a:r>
                        <a:rPr lang="fr-FR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Mourtzis</a:t>
                      </a:r>
                      <a:r>
                        <a:rPr lang="fr-FR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Procedia CIRP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Discussed Industry 4.0 challenges including real-time data integration and decision-making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740405"/>
                  </a:ext>
                </a:extLst>
              </a:tr>
              <a:tr h="1236608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Cyber-Physical Systems for Predictive Manufacturing Systems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Jay Lee,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Manufacturing Letters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CPS for predictive maintenance and real-time decision-making in manufacturing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83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630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 of Manufacturing Systems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Traditional manufacturing is centralized</a:t>
            </a:r>
          </a:p>
          <a:p>
            <a:r>
              <a:rPr lang="en-IN" dirty="0"/>
              <a:t>High capital investment required</a:t>
            </a:r>
          </a:p>
          <a:p>
            <a:r>
              <a:rPr lang="en-IN" dirty="0"/>
              <a:t>Limited flexibility and scalability</a:t>
            </a:r>
          </a:p>
          <a:p>
            <a:r>
              <a:rPr lang="en-IN" dirty="0"/>
              <a:t>Poor interoperability between machines</a:t>
            </a:r>
          </a:p>
          <a:p>
            <a:r>
              <a:rPr lang="en-IN" dirty="0"/>
              <a:t>Difficult integration with IT systems</a:t>
            </a:r>
          </a:p>
          <a:p>
            <a:r>
              <a:rPr lang="en-IN" dirty="0"/>
              <a:t>Need for modern manufacturing paradigms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DA6A-9185-4359-A80B-10819DCD1464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569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Industry 4.0 Overview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Fourth Industrial Revolution</a:t>
            </a:r>
          </a:p>
          <a:p>
            <a:pPr>
              <a:lnSpc>
                <a:spcPct val="100000"/>
              </a:lnSpc>
            </a:pPr>
            <a:r>
              <a:rPr lang="en-IN" dirty="0"/>
              <a:t>Integration of cyber and physical systems</a:t>
            </a:r>
          </a:p>
          <a:p>
            <a:pPr>
              <a:lnSpc>
                <a:spcPct val="100000"/>
              </a:lnSpc>
            </a:pPr>
            <a:r>
              <a:rPr lang="en-IN" dirty="0"/>
              <a:t>Use of IoT, cloud, AI, and automation</a:t>
            </a:r>
          </a:p>
          <a:p>
            <a:pPr>
              <a:lnSpc>
                <a:spcPct val="100000"/>
              </a:lnSpc>
            </a:pPr>
            <a:r>
              <a:rPr lang="en-IN" dirty="0"/>
              <a:t>Smart factories and smart products</a:t>
            </a:r>
          </a:p>
          <a:p>
            <a:pPr>
              <a:lnSpc>
                <a:spcPct val="100000"/>
              </a:lnSpc>
            </a:pPr>
            <a:r>
              <a:rPr lang="en-IN" dirty="0"/>
              <a:t>Real-time data-driven decisions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/>
              <a:t>Enables decentralised decision-making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Improves production flexibility</a:t>
            </a:r>
          </a:p>
          <a:p>
            <a:pPr>
              <a:lnSpc>
                <a:spcPct val="100000"/>
              </a:lnSpc>
            </a:pPr>
            <a:r>
              <a:rPr lang="en-IN" dirty="0"/>
              <a:t>Vertical and horizontal integration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E2A7-F288-4554-B33F-E6631C9A3AB0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087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Cyber-Physical Systems (CPS)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Tight coupling of physical and digital systems</a:t>
            </a:r>
          </a:p>
          <a:p>
            <a:pPr>
              <a:lnSpc>
                <a:spcPct val="100000"/>
              </a:lnSpc>
            </a:pPr>
            <a:r>
              <a:rPr lang="en-IN" dirty="0"/>
              <a:t>Sensors and actuators monitor machines</a:t>
            </a:r>
          </a:p>
          <a:p>
            <a:pPr>
              <a:lnSpc>
                <a:spcPct val="100000"/>
              </a:lnSpc>
            </a:pPr>
            <a:r>
              <a:rPr lang="en-IN" dirty="0"/>
              <a:t>Continuous feedback loops</a:t>
            </a:r>
          </a:p>
          <a:p>
            <a:pPr>
              <a:lnSpc>
                <a:spcPct val="100000"/>
              </a:lnSpc>
            </a:pPr>
            <a:r>
              <a:rPr lang="en-IN" dirty="0"/>
              <a:t>Real-time data acquisition</a:t>
            </a:r>
          </a:p>
          <a:p>
            <a:pPr>
              <a:lnSpc>
                <a:spcPct val="100000"/>
              </a:lnSpc>
            </a:pPr>
            <a:r>
              <a:rPr lang="en-IN" dirty="0"/>
              <a:t>Enables adaptive control</a:t>
            </a:r>
          </a:p>
          <a:p>
            <a:pPr>
              <a:lnSpc>
                <a:spcPct val="100000"/>
              </a:lnSpc>
            </a:pPr>
            <a:r>
              <a:rPr lang="en-IN" dirty="0"/>
              <a:t>Improves automation and intelligence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Supports adaptive and self-optimising systems</a:t>
            </a:r>
            <a:endParaRPr lang="en-IN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8EEB8-6883-444F-9D04-CBBDD6359E7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114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Computing in Manufacturing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On-demand access to computing resources</a:t>
            </a:r>
          </a:p>
          <a:p>
            <a:pPr>
              <a:lnSpc>
                <a:spcPct val="100000"/>
              </a:lnSpc>
            </a:pPr>
            <a:r>
              <a:rPr lang="en-IN" dirty="0"/>
              <a:t>Scalable storage and processing</a:t>
            </a:r>
          </a:p>
          <a:p>
            <a:pPr>
              <a:lnSpc>
                <a:spcPct val="100000"/>
              </a:lnSpc>
            </a:pPr>
            <a:r>
              <a:rPr lang="en-IN" dirty="0"/>
              <a:t>Internet-based service delivery</a:t>
            </a:r>
          </a:p>
          <a:p>
            <a:pPr>
              <a:lnSpc>
                <a:spcPct val="100000"/>
              </a:lnSpc>
            </a:pPr>
            <a:r>
              <a:rPr lang="en-IN" dirty="0"/>
              <a:t>Pay-as-you-use model</a:t>
            </a:r>
          </a:p>
          <a:p>
            <a:pPr>
              <a:lnSpc>
                <a:spcPct val="100000"/>
              </a:lnSpc>
            </a:pPr>
            <a:r>
              <a:rPr lang="en-IN" dirty="0"/>
              <a:t>Reduced local infrastructure</a:t>
            </a:r>
          </a:p>
          <a:p>
            <a:pPr>
              <a:lnSpc>
                <a:spcPct val="100000"/>
              </a:lnSpc>
            </a:pPr>
            <a:r>
              <a:rPr lang="en-IN" dirty="0"/>
              <a:t>Enables global accessibility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E71D-E5FC-4230-90BE-5D5E493FE398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7400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Manufacturing Concept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Manufacturing resources offered as services</a:t>
            </a:r>
          </a:p>
          <a:p>
            <a:pPr lvl="1">
              <a:lnSpc>
                <a:spcPct val="100000"/>
              </a:lnSpc>
            </a:pPr>
            <a:r>
              <a:rPr lang="en-IN" sz="2200" dirty="0"/>
              <a:t>Supports on-demand manufacturing</a:t>
            </a:r>
          </a:p>
          <a:p>
            <a:pPr>
              <a:lnSpc>
                <a:spcPct val="100000"/>
              </a:lnSpc>
            </a:pPr>
            <a:r>
              <a:rPr lang="en-IN" dirty="0"/>
              <a:t>Virtualisation of machines and tools</a:t>
            </a:r>
          </a:p>
          <a:p>
            <a:pPr>
              <a:lnSpc>
                <a:spcPct val="100000"/>
              </a:lnSpc>
            </a:pPr>
            <a:r>
              <a:rPr lang="en-IN" dirty="0"/>
              <a:t>Supports distributed manufacturing</a:t>
            </a:r>
          </a:p>
          <a:p>
            <a:pPr>
              <a:lnSpc>
                <a:spcPct val="100000"/>
              </a:lnSpc>
            </a:pPr>
            <a:r>
              <a:rPr lang="en-IN" dirty="0"/>
              <a:t>Enables resource sharing</a:t>
            </a:r>
          </a:p>
          <a:p>
            <a:pPr>
              <a:lnSpc>
                <a:spcPct val="100000"/>
              </a:lnSpc>
            </a:pPr>
            <a:r>
              <a:rPr lang="en-IN" dirty="0"/>
              <a:t>Improves flexibility and utilisation</a:t>
            </a:r>
          </a:p>
          <a:p>
            <a:pPr>
              <a:lnSpc>
                <a:spcPct val="100000"/>
              </a:lnSpc>
            </a:pPr>
            <a:r>
              <a:rPr lang="en-IN" dirty="0"/>
              <a:t>Integrates IT and manufacturing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EF32-1E3E-4448-ABFA-EA0F85D48373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4168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Integration Challenges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Protocol mismatch across systems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Different systems use incompatible standards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Latency in cloud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Affects real-time decision-making</a:t>
            </a:r>
          </a:p>
          <a:p>
            <a:pPr>
              <a:lnSpc>
                <a:spcPct val="100000"/>
              </a:lnSpc>
            </a:pPr>
            <a:r>
              <a:rPr lang="en-IN" dirty="0"/>
              <a:t>Security and privacy concerns</a:t>
            </a:r>
          </a:p>
          <a:p>
            <a:pPr>
              <a:lnSpc>
                <a:spcPct val="100000"/>
              </a:lnSpc>
            </a:pPr>
            <a:r>
              <a:rPr lang="en-IN" dirty="0"/>
              <a:t>Legacy system integration</a:t>
            </a:r>
          </a:p>
          <a:p>
            <a:pPr>
              <a:lnSpc>
                <a:spcPct val="100000"/>
              </a:lnSpc>
            </a:pPr>
            <a:r>
              <a:rPr lang="en-IN" dirty="0"/>
              <a:t>Lack of standardisation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FF40E-A31F-409B-A3FF-2349159FF7C6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905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Communication Protocols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dirty="0"/>
              <a:t>Enable data flow across layers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Supports bidirectional communication</a:t>
            </a:r>
          </a:p>
          <a:p>
            <a:pPr algn="just">
              <a:lnSpc>
                <a:spcPct val="100000"/>
              </a:lnSpc>
            </a:pPr>
            <a:r>
              <a:rPr lang="en-IN" dirty="0"/>
              <a:t>Connect shop floor to cloud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Bridges gap between physical and digital systems</a:t>
            </a:r>
            <a:endParaRPr lang="en-IN" sz="2200" dirty="0"/>
          </a:p>
          <a:p>
            <a:pPr algn="just">
              <a:lnSpc>
                <a:spcPct val="100000"/>
              </a:lnSpc>
            </a:pPr>
            <a:r>
              <a:rPr lang="en-IN" dirty="0"/>
              <a:t>Support real-time monitoring</a:t>
            </a:r>
          </a:p>
          <a:p>
            <a:pPr algn="just">
              <a:lnSpc>
                <a:spcPct val="100000"/>
              </a:lnSpc>
            </a:pPr>
            <a:r>
              <a:rPr lang="en-IN" dirty="0"/>
              <a:t>Ensure interoperability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Enables integration of heterogeneous devices</a:t>
            </a:r>
            <a:endParaRPr lang="en-IN" sz="2200" dirty="0"/>
          </a:p>
          <a:p>
            <a:pPr algn="just">
              <a:lnSpc>
                <a:spcPct val="100000"/>
              </a:lnSpc>
            </a:pPr>
            <a:r>
              <a:rPr lang="en-IN" dirty="0"/>
              <a:t>Maintain data integrity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1BD6F-6B69-411E-B37E-67AFBC357A2D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227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OPC UA Overview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Platform and vendor independent</a:t>
            </a:r>
          </a:p>
          <a:p>
            <a:pPr>
              <a:lnSpc>
                <a:spcPct val="100000"/>
              </a:lnSpc>
            </a:pPr>
            <a:r>
              <a:rPr lang="en-IN" dirty="0"/>
              <a:t>Secure by design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Supports encryption and authentication</a:t>
            </a:r>
          </a:p>
          <a:p>
            <a:pPr>
              <a:lnSpc>
                <a:spcPct val="100000"/>
              </a:lnSpc>
            </a:pPr>
            <a:r>
              <a:rPr lang="en-IN" dirty="0"/>
              <a:t>Supports complex data models</a:t>
            </a:r>
          </a:p>
          <a:p>
            <a:pPr>
              <a:lnSpc>
                <a:spcPct val="100000"/>
              </a:lnSpc>
            </a:pPr>
            <a:r>
              <a:rPr lang="en-IN" dirty="0"/>
              <a:t>Scalable and extensible</a:t>
            </a:r>
          </a:p>
          <a:p>
            <a:pPr>
              <a:lnSpc>
                <a:spcPct val="100000"/>
              </a:lnSpc>
            </a:pPr>
            <a:r>
              <a:rPr lang="en-IN" dirty="0"/>
              <a:t>Cloud and enterprise friendly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Works across multiple industrial layers</a:t>
            </a:r>
            <a:endParaRPr lang="en-IN" sz="2200" dirty="0"/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8BF7-297D-40EF-83CD-AEE0A8745814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089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OPC UA for CMfg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Standardised communication protocol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Eliminates vendor-specific limitations</a:t>
            </a:r>
          </a:p>
          <a:p>
            <a:pPr>
              <a:lnSpc>
                <a:spcPct val="100000"/>
              </a:lnSpc>
            </a:pPr>
            <a:r>
              <a:rPr lang="en-IN" dirty="0"/>
              <a:t>Solves interoperability issues</a:t>
            </a:r>
          </a:p>
          <a:p>
            <a:pPr>
              <a:lnSpc>
                <a:spcPct val="100000"/>
              </a:lnSpc>
            </a:pPr>
            <a:r>
              <a:rPr lang="en-IN" dirty="0"/>
              <a:t>Supports real-time monitoring</a:t>
            </a:r>
          </a:p>
          <a:p>
            <a:pPr>
              <a:lnSpc>
                <a:spcPct val="100000"/>
              </a:lnSpc>
            </a:pPr>
            <a:r>
              <a:rPr lang="en-IN" dirty="0"/>
              <a:t>Integrates legacy and modern systems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Acts as middleware for protocol conversion</a:t>
            </a:r>
            <a:endParaRPr lang="en-IN" sz="2200" dirty="0"/>
          </a:p>
          <a:p>
            <a:pPr>
              <a:lnSpc>
                <a:spcPct val="100000"/>
              </a:lnSpc>
            </a:pPr>
            <a:r>
              <a:rPr lang="en-IN" dirty="0"/>
              <a:t>Works across multiple layers</a:t>
            </a:r>
          </a:p>
          <a:p>
            <a:pPr>
              <a:lnSpc>
                <a:spcPct val="100000"/>
              </a:lnSpc>
            </a:pPr>
            <a:r>
              <a:rPr lang="en-IN" dirty="0"/>
              <a:t>Suitable for industrial environments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D9515-58BC-47B1-86E6-E699C5C7715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0409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Hybrid Architecture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Integrates Cloud Manufacturing and CPS</a:t>
            </a:r>
          </a:p>
          <a:p>
            <a:pPr>
              <a:lnSpc>
                <a:spcPct val="100000"/>
              </a:lnSpc>
            </a:pPr>
            <a:r>
              <a:rPr lang="en-IN" dirty="0"/>
              <a:t>Uses OPC UA as communication backbone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Enables seamless data exchange across layers</a:t>
            </a:r>
            <a:endParaRPr lang="en-IN" sz="2200" dirty="0"/>
          </a:p>
          <a:p>
            <a:pPr>
              <a:lnSpc>
                <a:spcPct val="100000"/>
              </a:lnSpc>
            </a:pPr>
            <a:r>
              <a:rPr lang="en-IN" dirty="0"/>
              <a:t>Combines physical, digital, and cloud layers</a:t>
            </a:r>
          </a:p>
          <a:p>
            <a:pPr>
              <a:lnSpc>
                <a:spcPct val="100000"/>
              </a:lnSpc>
            </a:pPr>
            <a:r>
              <a:rPr lang="en-IN" dirty="0"/>
              <a:t>Supports real-time data flow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Enables low-latency communication via CPS</a:t>
            </a:r>
            <a:endParaRPr lang="en-IN" sz="2200" dirty="0"/>
          </a:p>
          <a:p>
            <a:pPr>
              <a:lnSpc>
                <a:spcPct val="100000"/>
              </a:lnSpc>
            </a:pPr>
            <a:r>
              <a:rPr lang="en-IN" dirty="0"/>
              <a:t>Scalable and flexible design</a:t>
            </a:r>
          </a:p>
          <a:p>
            <a:pPr>
              <a:lnSpc>
                <a:spcPct val="100000"/>
              </a:lnSpc>
            </a:pPr>
            <a:r>
              <a:rPr lang="en-IN" dirty="0"/>
              <a:t>Industry-oriented architecture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95FA-80D4-45DF-A117-3E92FCB9FEAD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613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Physical manufacturing resource layer</a:t>
            </a:r>
          </a:p>
          <a:p>
            <a:pPr>
              <a:lnSpc>
                <a:spcPct val="100000"/>
              </a:lnSpc>
            </a:pPr>
            <a:r>
              <a:rPr lang="en-IN" dirty="0"/>
              <a:t>CPS / IoT sensing layer</a:t>
            </a:r>
          </a:p>
          <a:p>
            <a:pPr>
              <a:lnSpc>
                <a:spcPct val="100000"/>
              </a:lnSpc>
            </a:pPr>
            <a:r>
              <a:rPr lang="en-IN" dirty="0"/>
              <a:t>Digital Twin / virtual service layer</a:t>
            </a:r>
          </a:p>
          <a:p>
            <a:pPr>
              <a:lnSpc>
                <a:spcPct val="100000"/>
              </a:lnSpc>
            </a:pPr>
            <a:r>
              <a:rPr lang="en-IN" dirty="0"/>
              <a:t>Cloud service layer</a:t>
            </a:r>
          </a:p>
          <a:p>
            <a:pPr>
              <a:lnSpc>
                <a:spcPct val="100000"/>
              </a:lnSpc>
            </a:pPr>
            <a:r>
              <a:rPr lang="en-IN" dirty="0"/>
              <a:t>Application layer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2AEC-A9BB-49F1-9AAD-EC1A60063720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17</a:t>
            </a:fld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E3746-3FCC-945A-8868-6594BE1ED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437" y="718458"/>
            <a:ext cx="2189056" cy="1417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45F554-7F34-4616-4088-85A68401C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221" y="2029647"/>
            <a:ext cx="2505756" cy="11606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B8D9CE-C14A-D715-A4B3-1015911C9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621" y="3077095"/>
            <a:ext cx="2420022" cy="11606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1BBB72-382E-C24B-7393-F3C7BB7259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089" y="4080556"/>
            <a:ext cx="2394907" cy="11456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C38641-7D28-E190-E7C2-B205C41854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957" y="5014829"/>
            <a:ext cx="2282264" cy="106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8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Physical Layer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Machines, Computer Numerical Control (CNC) systems</a:t>
            </a:r>
          </a:p>
          <a:p>
            <a:pPr>
              <a:lnSpc>
                <a:spcPct val="100000"/>
              </a:lnSpc>
            </a:pPr>
            <a:r>
              <a:rPr lang="en-IN" dirty="0"/>
              <a:t>Sensors and actuators</a:t>
            </a:r>
          </a:p>
          <a:p>
            <a:pPr>
              <a:lnSpc>
                <a:spcPct val="100000"/>
              </a:lnSpc>
            </a:pPr>
            <a:r>
              <a:rPr lang="en-IN" dirty="0"/>
              <a:t>Includes CPS</a:t>
            </a:r>
          </a:p>
          <a:p>
            <a:pPr>
              <a:lnSpc>
                <a:spcPct val="100000"/>
              </a:lnSpc>
            </a:pPr>
            <a:r>
              <a:rPr lang="en-IN" dirty="0"/>
              <a:t>Performs manufacturing operations</a:t>
            </a:r>
          </a:p>
          <a:p>
            <a:pPr>
              <a:lnSpc>
                <a:spcPct val="100000"/>
              </a:lnSpc>
            </a:pPr>
            <a:r>
              <a:rPr lang="en-IN" dirty="0"/>
              <a:t>Generates real-time data</a:t>
            </a:r>
          </a:p>
          <a:p>
            <a:pPr>
              <a:lnSpc>
                <a:spcPct val="100000"/>
              </a:lnSpc>
            </a:pPr>
            <a:r>
              <a:rPr lang="en-IN" dirty="0"/>
              <a:t>Supports automation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C6FE6-2AEF-45AD-A90A-D08E60D4C398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18</a:t>
            </a:fld>
            <a:endParaRPr lang="en-IN" dirty="0"/>
          </a:p>
        </p:txBody>
      </p:sp>
      <p:pic>
        <p:nvPicPr>
          <p:cNvPr id="1026" name="Picture 2" descr="Robotics and the Future of Smart Manufacturing">
            <a:extLst>
              <a:ext uri="{FF2B5EF4-FFF2-40B4-BE49-F238E27FC236}">
                <a16:creationId xmlns:a16="http://schemas.microsoft.com/office/drawing/2014/main" id="{C49F951D-AF8E-4897-72D7-EA21515F1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885" y="2310492"/>
            <a:ext cx="3976915" cy="223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40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Virtual/Digital Twin Layer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Virtual representation of machines</a:t>
            </a:r>
          </a:p>
          <a:p>
            <a:pPr>
              <a:lnSpc>
                <a:spcPct val="100000"/>
              </a:lnSpc>
            </a:pPr>
            <a:r>
              <a:rPr lang="en-IN" dirty="0"/>
              <a:t>Real-time synchronisation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Mirrors physical system behaviour</a:t>
            </a:r>
          </a:p>
          <a:p>
            <a:pPr>
              <a:lnSpc>
                <a:spcPct val="100000"/>
              </a:lnSpc>
            </a:pPr>
            <a:r>
              <a:rPr lang="en-IN" dirty="0"/>
              <a:t>Edge devices for low latency</a:t>
            </a:r>
          </a:p>
          <a:p>
            <a:pPr>
              <a:lnSpc>
                <a:spcPct val="100000"/>
              </a:lnSpc>
            </a:pPr>
            <a:r>
              <a:rPr lang="en-IN" dirty="0"/>
              <a:t>Supports simulation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Enables testing before real execution</a:t>
            </a:r>
            <a:endParaRPr lang="en-IN" sz="2200" dirty="0"/>
          </a:p>
          <a:p>
            <a:pPr>
              <a:lnSpc>
                <a:spcPct val="100000"/>
              </a:lnSpc>
            </a:pPr>
            <a:r>
              <a:rPr lang="en-IN" dirty="0"/>
              <a:t>Enables predictive maintenance</a:t>
            </a:r>
          </a:p>
          <a:p>
            <a:pPr>
              <a:lnSpc>
                <a:spcPct val="100000"/>
              </a:lnSpc>
            </a:pPr>
            <a:r>
              <a:rPr lang="en-IN" dirty="0"/>
              <a:t>Improves efficiency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Optimises production and reduces downtime</a:t>
            </a:r>
            <a:endParaRPr lang="en-IN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25723-CCA4-4B2D-8EB3-67919D3EEBFD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19</a:t>
            </a:fld>
            <a:endParaRPr lang="en-IN" dirty="0"/>
          </a:p>
        </p:txBody>
      </p:sp>
      <p:pic>
        <p:nvPicPr>
          <p:cNvPr id="2050" name="Picture 2" descr="Industrial IoT 3D illustration concept.Connecting machines, sensors, and devices">
            <a:extLst>
              <a:ext uri="{FF2B5EF4-FFF2-40B4-BE49-F238E27FC236}">
                <a16:creationId xmlns:a16="http://schemas.microsoft.com/office/drawing/2014/main" id="{EF9B9977-7202-7C57-3BE4-C4F8BEB0D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277" y="2295330"/>
            <a:ext cx="3781523" cy="226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20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Service Layer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Data storage and processing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Handles large-scale industrial data</a:t>
            </a:r>
          </a:p>
          <a:p>
            <a:pPr>
              <a:lnSpc>
                <a:spcPct val="100000"/>
              </a:lnSpc>
            </a:pPr>
            <a:r>
              <a:rPr lang="en-IN" dirty="0"/>
              <a:t>Analytics and optimisation</a:t>
            </a:r>
          </a:p>
          <a:p>
            <a:pPr>
              <a:lnSpc>
                <a:spcPct val="100000"/>
              </a:lnSpc>
            </a:pPr>
            <a:r>
              <a:rPr lang="en-IN" dirty="0"/>
              <a:t>Private and public cloud usage</a:t>
            </a:r>
          </a:p>
          <a:p>
            <a:pPr>
              <a:lnSpc>
                <a:spcPct val="100000"/>
              </a:lnSpc>
            </a:pPr>
            <a:r>
              <a:rPr lang="en-IN" dirty="0"/>
              <a:t>AI and big data integration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Enables predictive analytics</a:t>
            </a:r>
          </a:p>
          <a:p>
            <a:pPr>
              <a:lnSpc>
                <a:spcPct val="100000"/>
              </a:lnSpc>
            </a:pPr>
            <a:r>
              <a:rPr lang="en-IN" dirty="0"/>
              <a:t>Scalable infrastructure</a:t>
            </a:r>
          </a:p>
          <a:p>
            <a:pPr>
              <a:lnSpc>
                <a:spcPct val="100000"/>
              </a:lnSpc>
            </a:pPr>
            <a:r>
              <a:rPr lang="en-GB" dirty="0"/>
              <a:t>Uses public and private cloud for flexibility and security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1C4D6-2EC9-4929-BD31-6AF0476F5039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20</a:t>
            </a:fld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27234E-0814-D14A-255C-B82DF8F2E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916" y="1987064"/>
            <a:ext cx="4547850" cy="288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0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Layer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Monitoring dashboards</a:t>
            </a:r>
          </a:p>
          <a:p>
            <a:pPr>
              <a:lnSpc>
                <a:spcPct val="100000"/>
              </a:lnSpc>
            </a:pPr>
            <a:r>
              <a:rPr lang="en-IN" dirty="0"/>
              <a:t>Decision support tools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Uses analytics for optimisation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Resource management</a:t>
            </a:r>
          </a:p>
          <a:p>
            <a:pPr>
              <a:lnSpc>
                <a:spcPct val="100000"/>
              </a:lnSpc>
            </a:pPr>
            <a:r>
              <a:rPr lang="en-IN" dirty="0"/>
              <a:t>Visualization of data</a:t>
            </a:r>
          </a:p>
          <a:p>
            <a:pPr>
              <a:lnSpc>
                <a:spcPct val="100000"/>
              </a:lnSpc>
            </a:pPr>
            <a:r>
              <a:rPr lang="en-GB" dirty="0"/>
              <a:t>Provides user interface for monitoring and control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7DA1-16B1-4A92-B0D1-F4D7F90FF2AE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21</a:t>
            </a:fld>
            <a:endParaRPr lang="en-IN" dirty="0"/>
          </a:p>
        </p:txBody>
      </p:sp>
      <p:pic>
        <p:nvPicPr>
          <p:cNvPr id="1026" name="Picture 2" descr="Smart Factory | IoTdashboard">
            <a:extLst>
              <a:ext uri="{FF2B5EF4-FFF2-40B4-BE49-F238E27FC236}">
                <a16:creationId xmlns:a16="http://schemas.microsoft.com/office/drawing/2014/main" id="{6B42DD20-4F02-D716-485A-2EB1CB66D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376" y="1535796"/>
            <a:ext cx="3879980" cy="218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94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4C6E-644B-88D9-FE46-3149457C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Working Principle – Block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6F085-8641-B092-31A6-687A107E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2C39-07A3-44A7-82EA-9601952F94FE}" type="datetime1">
              <a:rPr lang="en-IN" smtClean="0"/>
              <a:pPr/>
              <a:t>05-05-2026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DABEF-F3D8-4930-74C2-625DC431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Integration of cloud manufacturing and cyber-physical systems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751E2-0E41-524F-053F-54CFFDB0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A3D241-C84F-F978-D1D5-3B70A8AD82D6}"/>
              </a:ext>
            </a:extLst>
          </p:cNvPr>
          <p:cNvSpPr/>
          <p:nvPr/>
        </p:nvSpPr>
        <p:spPr>
          <a:xfrm>
            <a:off x="10356981" y="1241847"/>
            <a:ext cx="1194318" cy="5081684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OPC UA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08B3F1-EE75-F573-DB85-5D42CC9503AC}"/>
              </a:ext>
            </a:extLst>
          </p:cNvPr>
          <p:cNvCxnSpPr>
            <a:cxnSpLocks/>
          </p:cNvCxnSpPr>
          <p:nvPr/>
        </p:nvCxnSpPr>
        <p:spPr>
          <a:xfrm>
            <a:off x="9937102" y="1668275"/>
            <a:ext cx="419879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F90269B-4591-CE50-A3D4-FF612902DAD2}"/>
              </a:ext>
            </a:extLst>
          </p:cNvPr>
          <p:cNvCxnSpPr>
            <a:cxnSpLocks/>
          </p:cNvCxnSpPr>
          <p:nvPr/>
        </p:nvCxnSpPr>
        <p:spPr>
          <a:xfrm>
            <a:off x="9937102" y="2717122"/>
            <a:ext cx="419879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06C5AC-DE93-4111-CAF9-76BFF30693E1}"/>
              </a:ext>
            </a:extLst>
          </p:cNvPr>
          <p:cNvCxnSpPr>
            <a:cxnSpLocks/>
          </p:cNvCxnSpPr>
          <p:nvPr/>
        </p:nvCxnSpPr>
        <p:spPr>
          <a:xfrm>
            <a:off x="9937102" y="3793881"/>
            <a:ext cx="419879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FE221D-659E-230F-1060-BB64DA43188E}"/>
              </a:ext>
            </a:extLst>
          </p:cNvPr>
          <p:cNvCxnSpPr>
            <a:cxnSpLocks/>
          </p:cNvCxnSpPr>
          <p:nvPr/>
        </p:nvCxnSpPr>
        <p:spPr>
          <a:xfrm>
            <a:off x="9937102" y="4887581"/>
            <a:ext cx="419879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66EF6AD-1C64-B5FA-49BA-85675BC886D3}"/>
              </a:ext>
            </a:extLst>
          </p:cNvPr>
          <p:cNvCxnSpPr>
            <a:cxnSpLocks/>
          </p:cNvCxnSpPr>
          <p:nvPr/>
        </p:nvCxnSpPr>
        <p:spPr>
          <a:xfrm>
            <a:off x="9937102" y="5934895"/>
            <a:ext cx="419879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BB0C0FD-3331-4220-3A09-7A450F5E6CC3}"/>
              </a:ext>
            </a:extLst>
          </p:cNvPr>
          <p:cNvGrpSpPr/>
          <p:nvPr/>
        </p:nvGrpSpPr>
        <p:grpSpPr>
          <a:xfrm>
            <a:off x="208381" y="1235001"/>
            <a:ext cx="9728721" cy="821094"/>
            <a:chOff x="208381" y="1235001"/>
            <a:chExt cx="9728721" cy="82109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4E3A712-B178-1274-D5C1-F3D5AB10914C}"/>
                </a:ext>
              </a:extLst>
            </p:cNvPr>
            <p:cNvSpPr/>
            <p:nvPr/>
          </p:nvSpPr>
          <p:spPr>
            <a:xfrm>
              <a:off x="208381" y="1235001"/>
              <a:ext cx="9728721" cy="82109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rgbClr val="00B0F0"/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42604-F000-78D7-5768-20489564E98F}"/>
                </a:ext>
              </a:extLst>
            </p:cNvPr>
            <p:cNvSpPr txBox="1"/>
            <p:nvPr/>
          </p:nvSpPr>
          <p:spPr>
            <a:xfrm>
              <a:off x="1146110" y="1254674"/>
              <a:ext cx="15131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Application Layer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40E6470-A23E-61D6-CC7A-98EA4D444823}"/>
                </a:ext>
              </a:extLst>
            </p:cNvPr>
            <p:cNvSpPr/>
            <p:nvPr/>
          </p:nvSpPr>
          <p:spPr>
            <a:xfrm>
              <a:off x="279919" y="1280778"/>
              <a:ext cx="866191" cy="2816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 - 5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25F57B0-C080-DDD2-2178-78E2E18117CF}"/>
                </a:ext>
              </a:extLst>
            </p:cNvPr>
            <p:cNvSpPr/>
            <p:nvPr/>
          </p:nvSpPr>
          <p:spPr>
            <a:xfrm>
              <a:off x="515710" y="1651518"/>
              <a:ext cx="1063495" cy="307777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ERP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724E5E7-E1E3-A082-B371-645C61BEF308}"/>
                </a:ext>
              </a:extLst>
            </p:cNvPr>
            <p:cNvSpPr/>
            <p:nvPr/>
          </p:nvSpPr>
          <p:spPr>
            <a:xfrm>
              <a:off x="1932408" y="1651518"/>
              <a:ext cx="1094598" cy="307777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F98588E-7494-4CB3-63DD-EDA9B7257C57}"/>
                </a:ext>
              </a:extLst>
            </p:cNvPr>
            <p:cNvSpPr/>
            <p:nvPr/>
          </p:nvSpPr>
          <p:spPr>
            <a:xfrm>
              <a:off x="3377682" y="1664915"/>
              <a:ext cx="1271094" cy="307777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SCADA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DDFABBA-897E-54AF-8E5D-615F900D43E7}"/>
                </a:ext>
              </a:extLst>
            </p:cNvPr>
            <p:cNvSpPr/>
            <p:nvPr/>
          </p:nvSpPr>
          <p:spPr>
            <a:xfrm>
              <a:off x="4999452" y="1660604"/>
              <a:ext cx="1868848" cy="307777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Monitoring Dashboard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21A3E0A-E576-9241-8693-BD65144F2928}"/>
                </a:ext>
              </a:extLst>
            </p:cNvPr>
            <p:cNvSpPr/>
            <p:nvPr/>
          </p:nvSpPr>
          <p:spPr>
            <a:xfrm>
              <a:off x="7218976" y="1651518"/>
              <a:ext cx="1868848" cy="307777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 Support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1CB74E-D6CC-15F4-5662-48530AD03FDC}"/>
              </a:ext>
            </a:extLst>
          </p:cNvPr>
          <p:cNvGrpSpPr/>
          <p:nvPr/>
        </p:nvGrpSpPr>
        <p:grpSpPr>
          <a:xfrm>
            <a:off x="208381" y="5518378"/>
            <a:ext cx="9728721" cy="821094"/>
            <a:chOff x="208381" y="5518378"/>
            <a:chExt cx="9728721" cy="82109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0D0B89B-DED3-F9BD-6FFC-D6D7B4154B68}"/>
                </a:ext>
              </a:extLst>
            </p:cNvPr>
            <p:cNvSpPr/>
            <p:nvPr/>
          </p:nvSpPr>
          <p:spPr>
            <a:xfrm>
              <a:off x="208381" y="5518378"/>
              <a:ext cx="9728721" cy="821094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19050"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F8231E1-ABD6-ED28-8B93-A2EF3974D81B}"/>
                </a:ext>
              </a:extLst>
            </p:cNvPr>
            <p:cNvSpPr txBox="1"/>
            <p:nvPr/>
          </p:nvSpPr>
          <p:spPr>
            <a:xfrm>
              <a:off x="1146110" y="5538051"/>
              <a:ext cx="15131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Physical Layer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F8309CF-6B5A-9EE8-DC8E-B79874FA09A7}"/>
                </a:ext>
              </a:extLst>
            </p:cNvPr>
            <p:cNvSpPr/>
            <p:nvPr/>
          </p:nvSpPr>
          <p:spPr>
            <a:xfrm>
              <a:off x="279919" y="5564155"/>
              <a:ext cx="866191" cy="28167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 - 1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44ABA2B-E8C0-1BD8-D3BA-BCA6759C83AE}"/>
                </a:ext>
              </a:extLst>
            </p:cNvPr>
            <p:cNvSpPr/>
            <p:nvPr/>
          </p:nvSpPr>
          <p:spPr>
            <a:xfrm>
              <a:off x="2099104" y="5938761"/>
              <a:ext cx="1595382" cy="307777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Assembly Line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81B7C7B-FD61-0CDD-7CBC-EC3CC2957310}"/>
                </a:ext>
              </a:extLst>
            </p:cNvPr>
            <p:cNvSpPr/>
            <p:nvPr/>
          </p:nvSpPr>
          <p:spPr>
            <a:xfrm>
              <a:off x="4221907" y="5928924"/>
              <a:ext cx="1555089" cy="307777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CNC Machines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B0ADA9C-59C5-F85F-7370-A99E21BDD251}"/>
                </a:ext>
              </a:extLst>
            </p:cNvPr>
            <p:cNvSpPr/>
            <p:nvPr/>
          </p:nvSpPr>
          <p:spPr>
            <a:xfrm>
              <a:off x="6304417" y="5928923"/>
              <a:ext cx="1607983" cy="307777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Machining Tools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F2EEB3C-B9FD-70DB-68F6-6DB156B88E88}"/>
              </a:ext>
            </a:extLst>
          </p:cNvPr>
          <p:cNvGrpSpPr/>
          <p:nvPr/>
        </p:nvGrpSpPr>
        <p:grpSpPr>
          <a:xfrm>
            <a:off x="208381" y="2283619"/>
            <a:ext cx="9728721" cy="821094"/>
            <a:chOff x="208381" y="2283619"/>
            <a:chExt cx="9728721" cy="82109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7FDCEC3-32DA-FF58-529B-C567E9AA3EAF}"/>
                </a:ext>
              </a:extLst>
            </p:cNvPr>
            <p:cNvSpPr/>
            <p:nvPr/>
          </p:nvSpPr>
          <p:spPr>
            <a:xfrm>
              <a:off x="208381" y="2283619"/>
              <a:ext cx="9728721" cy="821094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19050">
              <a:solidFill>
                <a:srgbClr val="FFC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2B5F48A-8FBC-4095-14B8-672F3B8338F7}"/>
                </a:ext>
              </a:extLst>
            </p:cNvPr>
            <p:cNvSpPr txBox="1"/>
            <p:nvPr/>
          </p:nvSpPr>
          <p:spPr>
            <a:xfrm>
              <a:off x="1146110" y="2303292"/>
              <a:ext cx="17837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Cloud Service Layer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D314D33-A0E8-1412-36CF-549EB46C336C}"/>
                </a:ext>
              </a:extLst>
            </p:cNvPr>
            <p:cNvSpPr/>
            <p:nvPr/>
          </p:nvSpPr>
          <p:spPr>
            <a:xfrm>
              <a:off x="279919" y="2329396"/>
              <a:ext cx="866191" cy="281674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 - 4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2C95082-9C07-F318-70AF-707C70E41CCE}"/>
                </a:ext>
              </a:extLst>
            </p:cNvPr>
            <p:cNvSpPr/>
            <p:nvPr/>
          </p:nvSpPr>
          <p:spPr>
            <a:xfrm>
              <a:off x="279918" y="2704001"/>
              <a:ext cx="1674163" cy="3077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Public/Private Cloud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03CEB19-2FF3-16BB-3AA5-BBADF0BFFC45}"/>
                </a:ext>
              </a:extLst>
            </p:cNvPr>
            <p:cNvSpPr/>
            <p:nvPr/>
          </p:nvSpPr>
          <p:spPr>
            <a:xfrm>
              <a:off x="2119790" y="2708857"/>
              <a:ext cx="2429559" cy="3077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Scalable Storage &amp; Processing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8B6B011-F9BA-F599-9619-DAD36A76D3F7}"/>
                </a:ext>
              </a:extLst>
            </p:cNvPr>
            <p:cNvSpPr/>
            <p:nvPr/>
          </p:nvSpPr>
          <p:spPr>
            <a:xfrm>
              <a:off x="4715059" y="2704001"/>
              <a:ext cx="957940" cy="3077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AI Usage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5724FDA-D335-1039-0E4A-6D58D965E22C}"/>
                </a:ext>
              </a:extLst>
            </p:cNvPr>
            <p:cNvSpPr/>
            <p:nvPr/>
          </p:nvSpPr>
          <p:spPr>
            <a:xfrm>
              <a:off x="5838709" y="2694433"/>
              <a:ext cx="1868848" cy="3077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Predictive Analysis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9CE1E04-BFD4-27EB-9BE8-8C0CAE929997}"/>
                </a:ext>
              </a:extLst>
            </p:cNvPr>
            <p:cNvSpPr/>
            <p:nvPr/>
          </p:nvSpPr>
          <p:spPr>
            <a:xfrm>
              <a:off x="7872997" y="2685387"/>
              <a:ext cx="1868848" cy="3077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Resource Scheduling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5F259E-9FF4-281C-761D-D26FD1C217B5}"/>
              </a:ext>
            </a:extLst>
          </p:cNvPr>
          <p:cNvGrpSpPr/>
          <p:nvPr/>
        </p:nvGrpSpPr>
        <p:grpSpPr>
          <a:xfrm>
            <a:off x="208381" y="3377364"/>
            <a:ext cx="9728721" cy="821094"/>
            <a:chOff x="208381" y="3377364"/>
            <a:chExt cx="9728721" cy="82109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29B150A-BE5E-911E-2582-D6DB9AAFC039}"/>
                </a:ext>
              </a:extLst>
            </p:cNvPr>
            <p:cNvSpPr/>
            <p:nvPr/>
          </p:nvSpPr>
          <p:spPr>
            <a:xfrm>
              <a:off x="208381" y="3377364"/>
              <a:ext cx="9728721" cy="821094"/>
            </a:xfrm>
            <a:prstGeom prst="rect">
              <a:avLst/>
            </a:prstGeom>
            <a:solidFill>
              <a:srgbClr val="002060">
                <a:alpha val="50000"/>
              </a:srgbClr>
            </a:solidFill>
            <a:ln w="19050"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2DAEF22-7C1D-F95C-5318-6FB6EC3AEA36}"/>
                </a:ext>
              </a:extLst>
            </p:cNvPr>
            <p:cNvSpPr txBox="1"/>
            <p:nvPr/>
          </p:nvSpPr>
          <p:spPr>
            <a:xfrm>
              <a:off x="1146109" y="3397037"/>
              <a:ext cx="15858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Digital Twin Layer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6713BBD-EBA8-8875-0991-69ED3F054ACA}"/>
                </a:ext>
              </a:extLst>
            </p:cNvPr>
            <p:cNvSpPr/>
            <p:nvPr/>
          </p:nvSpPr>
          <p:spPr>
            <a:xfrm>
              <a:off x="279919" y="3423141"/>
              <a:ext cx="866191" cy="281674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 - 3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F69D442-19DF-3A27-544F-33D765A8BA26}"/>
                </a:ext>
              </a:extLst>
            </p:cNvPr>
            <p:cNvSpPr/>
            <p:nvPr/>
          </p:nvSpPr>
          <p:spPr>
            <a:xfrm>
              <a:off x="448630" y="3802557"/>
              <a:ext cx="1974980" cy="3077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Virtual Machine Models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1310C55-E0C6-4E0C-747C-C04FCBBB21EC}"/>
                </a:ext>
              </a:extLst>
            </p:cNvPr>
            <p:cNvSpPr/>
            <p:nvPr/>
          </p:nvSpPr>
          <p:spPr>
            <a:xfrm>
              <a:off x="2839697" y="3799694"/>
              <a:ext cx="2247706" cy="3077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Real-Time Synchronization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75546BF-D989-AAC7-0787-1E22A40F3500}"/>
                </a:ext>
              </a:extLst>
            </p:cNvPr>
            <p:cNvSpPr/>
            <p:nvPr/>
          </p:nvSpPr>
          <p:spPr>
            <a:xfrm>
              <a:off x="5503490" y="3786296"/>
              <a:ext cx="2041147" cy="3077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Simulation Environments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3BA1BF9-9BCC-CF4A-2BB0-B9B148E10CE8}"/>
                </a:ext>
              </a:extLst>
            </p:cNvPr>
            <p:cNvSpPr/>
            <p:nvPr/>
          </p:nvSpPr>
          <p:spPr>
            <a:xfrm>
              <a:off x="7960724" y="3779563"/>
              <a:ext cx="1868848" cy="3077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Predictive Maintenance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F720DF-145B-A86E-67C5-6B6ED25315AC}"/>
              </a:ext>
            </a:extLst>
          </p:cNvPr>
          <p:cNvGrpSpPr/>
          <p:nvPr/>
        </p:nvGrpSpPr>
        <p:grpSpPr>
          <a:xfrm>
            <a:off x="208381" y="4471064"/>
            <a:ext cx="9728721" cy="821094"/>
            <a:chOff x="208381" y="4471064"/>
            <a:chExt cx="9728721" cy="82109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B37B9B6-BDB1-115C-14D3-EB1016C304F9}"/>
                </a:ext>
              </a:extLst>
            </p:cNvPr>
            <p:cNvSpPr/>
            <p:nvPr/>
          </p:nvSpPr>
          <p:spPr>
            <a:xfrm>
              <a:off x="208381" y="4471064"/>
              <a:ext cx="9728721" cy="821094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19050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88C45E8-F9AF-B90D-CE57-14649FA1D606}"/>
                </a:ext>
              </a:extLst>
            </p:cNvPr>
            <p:cNvSpPr txBox="1"/>
            <p:nvPr/>
          </p:nvSpPr>
          <p:spPr>
            <a:xfrm>
              <a:off x="1146110" y="4490737"/>
              <a:ext cx="15131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CPS Layer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DEA69D-1B17-CB48-6BD2-FA4F7765FF26}"/>
                </a:ext>
              </a:extLst>
            </p:cNvPr>
            <p:cNvSpPr/>
            <p:nvPr/>
          </p:nvSpPr>
          <p:spPr>
            <a:xfrm>
              <a:off x="279919" y="4516841"/>
              <a:ext cx="866191" cy="28167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 - 2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72D8B4D-C944-81ED-5C6D-EEAE3B47EFBC}"/>
                </a:ext>
              </a:extLst>
            </p:cNvPr>
            <p:cNvSpPr/>
            <p:nvPr/>
          </p:nvSpPr>
          <p:spPr>
            <a:xfrm>
              <a:off x="862441" y="4857316"/>
              <a:ext cx="1270325" cy="307777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IoT Sensors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E98C1EA-22AB-E70B-3059-250B345DD4D4}"/>
                </a:ext>
              </a:extLst>
            </p:cNvPr>
            <p:cNvSpPr/>
            <p:nvPr/>
          </p:nvSpPr>
          <p:spPr>
            <a:xfrm>
              <a:off x="2479707" y="4857317"/>
              <a:ext cx="2429559" cy="307777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Real-time Data Acquisition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E5EA27D-6AB7-D492-9830-61263862E016}"/>
                </a:ext>
              </a:extLst>
            </p:cNvPr>
            <p:cNvSpPr/>
            <p:nvPr/>
          </p:nvSpPr>
          <p:spPr>
            <a:xfrm>
              <a:off x="5256206" y="4858039"/>
              <a:ext cx="1863604" cy="307777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Embedded Controllers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4BA79A6-E8DF-B6CA-5C45-9F8C5EF7D891}"/>
                </a:ext>
              </a:extLst>
            </p:cNvPr>
            <p:cNvSpPr/>
            <p:nvPr/>
          </p:nvSpPr>
          <p:spPr>
            <a:xfrm>
              <a:off x="7466751" y="4857316"/>
              <a:ext cx="2197131" cy="307777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Continuous Feedback loops</a:t>
              </a:r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A0FF21E-B998-CCF9-93F4-4EC0D36199CC}"/>
              </a:ext>
            </a:extLst>
          </p:cNvPr>
          <p:cNvCxnSpPr>
            <a:stCxn id="7" idx="2"/>
            <a:endCxn id="30" idx="0"/>
          </p:cNvCxnSpPr>
          <p:nvPr/>
        </p:nvCxnSpPr>
        <p:spPr>
          <a:xfrm>
            <a:off x="5072742" y="2056095"/>
            <a:ext cx="0" cy="2275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6593BC5-2D57-4C5F-A54B-A0E7CEF15F7C}"/>
              </a:ext>
            </a:extLst>
          </p:cNvPr>
          <p:cNvCxnSpPr>
            <a:stCxn id="38" idx="0"/>
            <a:endCxn id="30" idx="2"/>
          </p:cNvCxnSpPr>
          <p:nvPr/>
        </p:nvCxnSpPr>
        <p:spPr>
          <a:xfrm flipV="1">
            <a:off x="5072742" y="3104713"/>
            <a:ext cx="0" cy="2726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938EFBD7-C1D7-8B3D-3043-BCC2836D71A2}"/>
              </a:ext>
            </a:extLst>
          </p:cNvPr>
          <p:cNvCxnSpPr>
            <a:stCxn id="46" idx="0"/>
            <a:endCxn id="38" idx="2"/>
          </p:cNvCxnSpPr>
          <p:nvPr/>
        </p:nvCxnSpPr>
        <p:spPr>
          <a:xfrm flipV="1">
            <a:off x="5072742" y="4198458"/>
            <a:ext cx="0" cy="2726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698E144-BB09-8D17-F4FC-DE259A6B929C}"/>
              </a:ext>
            </a:extLst>
          </p:cNvPr>
          <p:cNvCxnSpPr>
            <a:stCxn id="54" idx="0"/>
            <a:endCxn id="46" idx="2"/>
          </p:cNvCxnSpPr>
          <p:nvPr/>
        </p:nvCxnSpPr>
        <p:spPr>
          <a:xfrm flipV="1">
            <a:off x="5072742" y="5292158"/>
            <a:ext cx="0" cy="2262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2BB75C0A-4781-2189-B633-113C12531076}"/>
              </a:ext>
            </a:extLst>
          </p:cNvPr>
          <p:cNvSpPr txBox="1"/>
          <p:nvPr/>
        </p:nvSpPr>
        <p:spPr>
          <a:xfrm>
            <a:off x="5087403" y="2048429"/>
            <a:ext cx="1607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Decision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352A2B7-4D88-F945-DEBD-B43568CBA8A0}"/>
              </a:ext>
            </a:extLst>
          </p:cNvPr>
          <p:cNvSpPr txBox="1"/>
          <p:nvPr/>
        </p:nvSpPr>
        <p:spPr>
          <a:xfrm>
            <a:off x="5087403" y="3111422"/>
            <a:ext cx="1607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Data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1C049B3-7112-3F65-6BC2-1BCDBC58FB88}"/>
              </a:ext>
            </a:extLst>
          </p:cNvPr>
          <p:cNvSpPr txBox="1"/>
          <p:nvPr/>
        </p:nvSpPr>
        <p:spPr>
          <a:xfrm>
            <a:off x="5087403" y="4203578"/>
            <a:ext cx="1607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Streams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C59CE19-75FE-5C30-0C09-90EB0B84E667}"/>
              </a:ext>
            </a:extLst>
          </p:cNvPr>
          <p:cNvSpPr txBox="1"/>
          <p:nvPr/>
        </p:nvSpPr>
        <p:spPr>
          <a:xfrm>
            <a:off x="5087403" y="5274463"/>
            <a:ext cx="1607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Signals</a:t>
            </a:r>
          </a:p>
        </p:txBody>
      </p:sp>
    </p:spTree>
    <p:extLst>
      <p:ext uri="{BB962C8B-B14F-4D97-AF65-F5344CB8AC3E}">
        <p14:creationId xmlns:p14="http://schemas.microsoft.com/office/powerpoint/2010/main" val="95737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03" grpId="0"/>
      <p:bldP spid="104" grpId="0"/>
      <p:bldP spid="105" grpId="0"/>
      <p:bldP spid="10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Proposed Approach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Improved interoperability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Enables seamless system integration</a:t>
            </a:r>
          </a:p>
          <a:p>
            <a:pPr>
              <a:lnSpc>
                <a:spcPct val="100000"/>
              </a:lnSpc>
            </a:pPr>
            <a:r>
              <a:rPr lang="en-IN" dirty="0"/>
              <a:t>Secure communication</a:t>
            </a:r>
          </a:p>
          <a:p>
            <a:pPr>
              <a:lnSpc>
                <a:spcPct val="100000"/>
              </a:lnSpc>
            </a:pPr>
            <a:r>
              <a:rPr lang="en-IN" dirty="0"/>
              <a:t>Real-time monitoring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Improves operational efficiency</a:t>
            </a:r>
          </a:p>
          <a:p>
            <a:pPr>
              <a:lnSpc>
                <a:spcPct val="100000"/>
              </a:lnSpc>
            </a:pPr>
            <a:r>
              <a:rPr lang="en-IN" dirty="0"/>
              <a:t>Scalable architecture</a:t>
            </a:r>
          </a:p>
          <a:p>
            <a:pPr>
              <a:lnSpc>
                <a:spcPct val="100000"/>
              </a:lnSpc>
            </a:pPr>
            <a:r>
              <a:rPr lang="en-IN" dirty="0"/>
              <a:t>Vendor-neutral integration</a:t>
            </a:r>
          </a:p>
          <a:p>
            <a:pPr>
              <a:lnSpc>
                <a:spcPct val="100000"/>
              </a:lnSpc>
            </a:pPr>
            <a:r>
              <a:rPr lang="en-IN" dirty="0"/>
              <a:t>Enhances resource utilisation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0835-C176-4EEA-9E1A-CBBD6C167F7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225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and limitations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dirty="0"/>
              <a:t>Complexity of integration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Multi-layer integration increases system complexity</a:t>
            </a:r>
            <a:endParaRPr lang="en-IN" sz="2200" dirty="0"/>
          </a:p>
          <a:p>
            <a:pPr>
              <a:lnSpc>
                <a:spcPct val="110000"/>
              </a:lnSpc>
            </a:pPr>
            <a:r>
              <a:rPr lang="en-IN" dirty="0"/>
              <a:t>Network latency issues</a:t>
            </a:r>
          </a:p>
          <a:p>
            <a:pPr>
              <a:lnSpc>
                <a:spcPct val="110000"/>
              </a:lnSpc>
            </a:pPr>
            <a:r>
              <a:rPr lang="en-IN" dirty="0"/>
              <a:t>Legacy system compatibility</a:t>
            </a:r>
          </a:p>
          <a:p>
            <a:pPr>
              <a:lnSpc>
                <a:spcPct val="110000"/>
              </a:lnSpc>
            </a:pPr>
            <a:r>
              <a:rPr lang="en-IN" dirty="0"/>
              <a:t>Security management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sz="2200" dirty="0"/>
              <a:t>Requires advanced security mechanisms</a:t>
            </a:r>
          </a:p>
          <a:p>
            <a:pPr>
              <a:lnSpc>
                <a:spcPct val="110000"/>
              </a:lnSpc>
            </a:pPr>
            <a:r>
              <a:rPr lang="en-IN"/>
              <a:t>Skill requirements</a:t>
            </a:r>
          </a:p>
          <a:p>
            <a:pPr>
              <a:lnSpc>
                <a:spcPct val="110000"/>
              </a:lnSpc>
            </a:pPr>
            <a:r>
              <a:rPr lang="en-GB"/>
              <a:t>High </a:t>
            </a:r>
            <a:r>
              <a:rPr lang="en-GB" dirty="0"/>
              <a:t>dependency on network reliability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0A3EA-E63A-42E1-926A-1A0AF3237F36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0872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Real industrial implementation</a:t>
            </a:r>
          </a:p>
          <a:p>
            <a:pPr>
              <a:lnSpc>
                <a:spcPct val="100000"/>
              </a:lnSpc>
            </a:pPr>
            <a:r>
              <a:rPr lang="en-IN" dirty="0"/>
              <a:t>Performance benchmarking</a:t>
            </a:r>
          </a:p>
          <a:p>
            <a:pPr>
              <a:lnSpc>
                <a:spcPct val="100000"/>
              </a:lnSpc>
            </a:pPr>
            <a:r>
              <a:rPr lang="en-IN" dirty="0"/>
              <a:t>Latency optimisation</a:t>
            </a:r>
          </a:p>
          <a:p>
            <a:pPr>
              <a:lnSpc>
                <a:spcPct val="100000"/>
              </a:lnSpc>
            </a:pPr>
            <a:r>
              <a:rPr lang="en-IN" dirty="0"/>
              <a:t>Advanced AI integration</a:t>
            </a:r>
          </a:p>
          <a:p>
            <a:pPr lvl="1">
              <a:lnSpc>
                <a:spcPct val="100000"/>
              </a:lnSpc>
            </a:pPr>
            <a:r>
              <a:rPr lang="en-IN" sz="2200" dirty="0"/>
              <a:t>Enables intelligent decision-making</a:t>
            </a:r>
          </a:p>
          <a:p>
            <a:pPr>
              <a:lnSpc>
                <a:spcPct val="100000"/>
              </a:lnSpc>
            </a:pPr>
            <a:r>
              <a:rPr lang="en-IN" dirty="0"/>
              <a:t>Security enhancement</a:t>
            </a:r>
          </a:p>
          <a:p>
            <a:pPr>
              <a:lnSpc>
                <a:spcPct val="100000"/>
              </a:lnSpc>
            </a:pPr>
            <a:r>
              <a:rPr lang="en-IN" dirty="0"/>
              <a:t>Large-scale deployment studies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8C392-AE6B-4096-9539-7EE66FD1B25D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528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Integration of CPS and cloud is essential</a:t>
            </a:r>
          </a:p>
          <a:p>
            <a:pPr>
              <a:lnSpc>
                <a:spcPct val="100000"/>
              </a:lnSpc>
            </a:pPr>
            <a:r>
              <a:rPr lang="en-IN" dirty="0"/>
              <a:t>OPC UA enables seamless communication</a:t>
            </a:r>
          </a:p>
          <a:p>
            <a:pPr>
              <a:lnSpc>
                <a:spcPct val="100000"/>
              </a:lnSpc>
            </a:pPr>
            <a:r>
              <a:rPr lang="en-IN" dirty="0"/>
              <a:t>Hybrid architecture improves efficiency</a:t>
            </a:r>
          </a:p>
          <a:p>
            <a:pPr>
              <a:lnSpc>
                <a:spcPct val="100000"/>
              </a:lnSpc>
            </a:pPr>
            <a:r>
              <a:rPr lang="en-IN" dirty="0"/>
              <a:t>Supports real-time manufacturing</a:t>
            </a:r>
          </a:p>
          <a:p>
            <a:pPr>
              <a:lnSpc>
                <a:spcPct val="100000"/>
              </a:lnSpc>
            </a:pPr>
            <a:r>
              <a:rPr lang="en-IN" dirty="0"/>
              <a:t>Enhances scalability and flexibility</a:t>
            </a:r>
          </a:p>
          <a:p>
            <a:pPr>
              <a:lnSpc>
                <a:spcPct val="100000"/>
              </a:lnSpc>
            </a:pPr>
            <a:r>
              <a:rPr lang="en-IN" dirty="0"/>
              <a:t>Suitable for Industry 4.0</a:t>
            </a:r>
          </a:p>
          <a:p>
            <a:pPr>
              <a:lnSpc>
                <a:spcPct val="100000"/>
              </a:lnSpc>
            </a:pPr>
            <a:r>
              <a:rPr lang="en-IN" dirty="0"/>
              <a:t>Strong potential for adoption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B55AD-8E10-4055-994A-6541E0858731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Integration of cloud manufacturing and cyber-physical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866A-337D-4737-BA1D-67906794DCEC}" type="slidenum">
              <a:rPr lang="en-IN" smtClean="0"/>
              <a:pPr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4831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1305</Words>
  <Application>Microsoft Office PowerPoint</Application>
  <PresentationFormat>Widescreen</PresentationFormat>
  <Paragraphs>341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Presentation Outline</vt:lpstr>
      <vt:lpstr>Problem Statement</vt:lpstr>
      <vt:lpstr>Introduction</vt:lpstr>
      <vt:lpstr>Literature Survey</vt:lpstr>
      <vt:lpstr>Literature Survey (contd.)</vt:lpstr>
      <vt:lpstr>Background of Manufacturing Systems</vt:lpstr>
      <vt:lpstr>Industry 4.0 Overview</vt:lpstr>
      <vt:lpstr>Cyber-Physical Systems (CPS)</vt:lpstr>
      <vt:lpstr>Cloud Computing in Manufacturing</vt:lpstr>
      <vt:lpstr>Cloud Manufacturing Concept</vt:lpstr>
      <vt:lpstr>Integration Challenges</vt:lpstr>
      <vt:lpstr>Role of Communication Protocols</vt:lpstr>
      <vt:lpstr>OPC UA Overview</vt:lpstr>
      <vt:lpstr>Why OPC UA for CMfg</vt:lpstr>
      <vt:lpstr>Proposed Hybrid Architecture</vt:lpstr>
      <vt:lpstr>Architecture</vt:lpstr>
      <vt:lpstr>Physical Layer</vt:lpstr>
      <vt:lpstr>Virtual/Digital Twin Layer</vt:lpstr>
      <vt:lpstr>Cloud Service Layer</vt:lpstr>
      <vt:lpstr>Application Layer</vt:lpstr>
      <vt:lpstr>Working Principle – Block diagram</vt:lpstr>
      <vt:lpstr>Advantages of Proposed Approach</vt:lpstr>
      <vt:lpstr>Challenges and limitations</vt:lpstr>
      <vt:lpstr>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Thiyagarajan</dc:creator>
  <cp:lastModifiedBy>Seshapriyan T</cp:lastModifiedBy>
  <cp:revision>388</cp:revision>
  <dcterms:created xsi:type="dcterms:W3CDTF">2026-01-25T06:52:55Z</dcterms:created>
  <dcterms:modified xsi:type="dcterms:W3CDTF">2026-05-05T03:46:08Z</dcterms:modified>
</cp:coreProperties>
</file>