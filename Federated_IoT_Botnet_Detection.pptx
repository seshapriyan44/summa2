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80" autoAdjust="0"/>
  </p:normalViewPr>
  <p:slideViewPr>
    <p:cSldViewPr snapToGrid="0" snapToObjects="1">
      <p:cViewPr varScale="1">
        <p:scale>
          <a:sx n="73" d="100"/>
          <a:sy n="73" d="100"/>
        </p:scale>
        <p:origin x="9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22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3385969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a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3065929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783080"/>
            <a:ext cx="11064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01ADEF"/>
                </a:solidFill>
                <a:latin typeface="Calibri"/>
              </a:rPr>
              <a:t>M.TECH SUMMER PROJECT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Privacy-Preserving Federated Autoencoder Framework for
Explainable IoT Botnet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6ECF9"/>
                </a:solidFill>
                <a:latin typeface="Calibri"/>
              </a:rPr>
              <a:t>Dashboard: Federated IoT Threat Intelligence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4617720"/>
            <a:ext cx="7772400" cy="17830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47548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6273"/>
                </a:solidFill>
                <a:latin typeface="Calibr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504748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092"/>
                </a:solidFill>
                <a:latin typeface="Calibri"/>
              </a:rPr>
              <a:t>Seshapriyan T  |  Reg. No. 127033016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5468112"/>
            <a:ext cx="7132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202433"/>
                </a:solidFill>
                <a:latin typeface="Calibri"/>
              </a:rPr>
              <a:t>M.Tech</a:t>
            </a:r>
            <a:r>
              <a:rPr sz="1400" b="0" i="0" dirty="0">
                <a:solidFill>
                  <a:srgbClr val="202433"/>
                </a:solidFill>
                <a:latin typeface="Calibri"/>
              </a:rPr>
              <a:t>, Computer Science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5760720"/>
            <a:ext cx="7132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i="1" dirty="0">
                <a:solidFill>
                  <a:srgbClr val="5A6273"/>
                </a:solidFill>
                <a:latin typeface="Calibri"/>
              </a:rPr>
              <a:t>School of Computing</a:t>
            </a:r>
            <a:endParaRPr sz="1300" b="0" i="1" dirty="0">
              <a:solidFill>
                <a:srgbClr val="5A6273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4600" y="6035040"/>
            <a:ext cx="7132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273"/>
                </a:solidFill>
                <a:latin typeface="Calibri"/>
              </a:rPr>
              <a:t>SASTRA Deemed University, Thanjavur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064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87853" y="242316"/>
            <a:ext cx="227524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13" y="242316"/>
            <a:ext cx="200092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1ADEF"/>
                </a:solidFill>
                <a:latin typeface="Calibri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778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C9D6EE"/>
                </a:solidFill>
                <a:latin typeface="Calibri"/>
              </a:rPr>
              <a:t>M.Tech</a:t>
            </a:r>
            <a:r>
              <a:rPr sz="950" b="0" i="0" dirty="0">
                <a:solidFill>
                  <a:srgbClr val="C9D6EE"/>
                </a:solidFill>
                <a:latin typeface="Calibri"/>
              </a:rPr>
              <a:t> Summer Project |  Seshapriyan T  |  SASTRA Deemed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5623560" cy="48920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481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092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3092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IoT botnets: </a:t>
            </a:r>
            <a:r>
              <a:rPr sz="1450">
                <a:solidFill>
                  <a:srgbClr val="202433"/>
                </a:solidFill>
                <a:latin typeface="Calibri"/>
              </a:rPr>
              <a:t>Mirai and Gafgyt exploit weak, default-credential IoT devices to launch large-scale DDoS attacks.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3092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Signature-based IDS fails: </a:t>
            </a:r>
            <a:r>
              <a:rPr sz="1450">
                <a:solidFill>
                  <a:srgbClr val="202433"/>
                </a:solidFill>
                <a:latin typeface="Calibri"/>
              </a:rPr>
              <a:t>cannot detect previously unseen (zero-day) attack variants.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3092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Supervised ML needs labels: </a:t>
            </a:r>
            <a:r>
              <a:rPr sz="1450">
                <a:solidFill>
                  <a:srgbClr val="202433"/>
                </a:solidFill>
                <a:latin typeface="Calibri"/>
              </a:rPr>
              <a:t>labelled attack traffic is costly and quickly becomes outdated.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3092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Centralised learning risks privacy: </a:t>
            </a:r>
            <a:r>
              <a:rPr sz="1450">
                <a:solidFill>
                  <a:srgbClr val="202433"/>
                </a:solidFill>
                <a:latin typeface="Calibri"/>
              </a:rPr>
              <a:t>raw traffic must leave edge devices, violating data-minimisation norms.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03092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Naive multi-device scaling fails: </a:t>
            </a:r>
            <a:r>
              <a:rPr sz="1450">
                <a:solidFill>
                  <a:srgbClr val="202433"/>
                </a:solidFill>
                <a:latin typeface="Calibri"/>
              </a:rPr>
              <a:t>a scaler fit on one device misclassifies benign traffic from the 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5394960" cy="48920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092"/>
                </a:solidFill>
                <a:latin typeface="Calibri"/>
              </a:rP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1ADEF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Unsupervised detection: </a:t>
            </a:r>
            <a:r>
              <a:rPr sz="1450">
                <a:solidFill>
                  <a:srgbClr val="202433"/>
                </a:solidFill>
                <a:latin typeface="Calibri"/>
              </a:rPr>
              <a:t>train a Deep Autoencoder on benign-only traffic — no attack labels required.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1ADEF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Privacy preservation: </a:t>
            </a:r>
            <a:r>
              <a:rPr sz="1450">
                <a:solidFill>
                  <a:srgbClr val="202433"/>
                </a:solidFill>
                <a:latin typeface="Calibri"/>
              </a:rPr>
              <a:t>use Federated Learning so raw traffic never leaves any device.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1ADEF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Robust preprocessing: </a:t>
            </a:r>
            <a:r>
              <a:rPr sz="1450">
                <a:solidFill>
                  <a:srgbClr val="202433"/>
                </a:solidFill>
                <a:latin typeface="Calibri"/>
              </a:rPr>
              <a:t>fit one shared scaler across all 9 IoT devices to prevent false positives.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1ADEF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Severity + explainability: </a:t>
            </a:r>
            <a:r>
              <a:rPr sz="1450">
                <a:solidFill>
                  <a:srgbClr val="202433"/>
                </a:solidFill>
                <a:latin typeface="Calibri"/>
              </a:rPr>
              <a:t>generate a normalised Threat Score and top-5 feature-level explanations.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01ADEF"/>
                </a:solidFill>
                <a:latin typeface="Calibri"/>
              </a:rPr>
              <a:t>▸  </a:t>
            </a:r>
            <a:r>
              <a:rPr sz="1450" b="1">
                <a:solidFill>
                  <a:srgbClr val="202433"/>
                </a:solidFill>
                <a:latin typeface="Calibri"/>
              </a:rPr>
              <a:t>Usable interface: </a:t>
            </a:r>
            <a:r>
              <a:rPr sz="1450">
                <a:solidFill>
                  <a:srgbClr val="202433"/>
                </a:solidFill>
                <a:latin typeface="Calibri"/>
              </a:rPr>
              <a:t>deliver results through an interactive Flask threat-intelligence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064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87853" y="242316"/>
            <a:ext cx="227524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13" y="242316"/>
            <a:ext cx="200092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1ADEF"/>
                </a:solidFill>
                <a:latin typeface="Calibri"/>
              </a:rPr>
              <a:t>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778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System Architecture — Training &amp; Inference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C9D6EE"/>
                </a:solidFill>
                <a:latin typeface="Calibri"/>
              </a:rPr>
              <a:t>M.Tech</a:t>
            </a:r>
            <a:r>
              <a:rPr sz="950" b="0" i="0" dirty="0">
                <a:solidFill>
                  <a:srgbClr val="C9D6EE"/>
                </a:solidFill>
                <a:latin typeface="Calibri"/>
              </a:rPr>
              <a:t> Summer Project |  Seshapriyan T  |  SASTRA Deemed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532120" cy="384048"/>
          </a:xfrm>
          <a:prstGeom prst="roundRect">
            <a:avLst>
              <a:gd name="adj" fmla="val 50000"/>
            </a:avLst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1 — TRAINING (offline, once)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55321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032397"/>
            <a:ext cx="5385816" cy="411908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1325880"/>
            <a:ext cx="5532120" cy="384048"/>
          </a:xfrm>
          <a:prstGeom prst="roundRect">
            <a:avLst>
              <a:gd name="adj" fmla="val 50000"/>
            </a:avLst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2 — INFERENCE (every upload)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5321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2151774"/>
            <a:ext cx="5385816" cy="38803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064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87853" y="242316"/>
            <a:ext cx="227524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13" y="242316"/>
            <a:ext cx="200092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1ADEF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778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C9D6EE"/>
                </a:solidFill>
                <a:latin typeface="Calibri"/>
              </a:rPr>
              <a:t>M.Tech</a:t>
            </a:r>
            <a:r>
              <a:rPr sz="950" b="0" i="0" dirty="0">
                <a:solidFill>
                  <a:srgbClr val="C9D6EE"/>
                </a:solidFill>
                <a:latin typeface="Calibri"/>
              </a:rPr>
              <a:t> Summer Project |  Seshapriyan T  |  SASTRA Deemed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98448"/>
            <a:ext cx="1387275" cy="566928"/>
          </a:xfrm>
          <a:prstGeom prst="roundRect">
            <a:avLst>
              <a:gd name="adj" fmla="val 10000"/>
            </a:avLst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Dataset</a:t>
            </a:r>
          </a:p>
          <a:p>
            <a:pPr algn="ctr"/>
            <a:r>
              <a:rPr sz="1000">
                <a:solidFill>
                  <a:srgbClr val="E7EEFA"/>
                </a:solidFill>
                <a:latin typeface="Calibri"/>
              </a:rPr>
              <a:t>N-BaIoT, 9 devices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44475" y="1463040"/>
            <a:ext cx="256032" cy="237744"/>
          </a:xfrm>
          <a:prstGeom prst="rightArrow">
            <a:avLst/>
          </a:prstGeom>
          <a:solidFill>
            <a:srgbClr val="5A6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100507" y="1298448"/>
            <a:ext cx="1387275" cy="566928"/>
          </a:xfrm>
          <a:prstGeom prst="roundRect">
            <a:avLst>
              <a:gd name="adj" fmla="val 10000"/>
            </a:avLst>
          </a:prstGeom>
          <a:solidFill>
            <a:srgbClr val="01A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Shared
Scaler</a:t>
            </a:r>
          </a:p>
          <a:p>
            <a:pPr algn="ctr"/>
            <a:r>
              <a:rPr sz="1000">
                <a:solidFill>
                  <a:srgbClr val="E7EEFA"/>
                </a:solidFill>
                <a:latin typeface="Calibri"/>
              </a:rPr>
              <a:t>MinMaxScaler, all 9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87782" y="1463040"/>
            <a:ext cx="256032" cy="237744"/>
          </a:xfrm>
          <a:prstGeom prst="rightArrow">
            <a:avLst/>
          </a:prstGeom>
          <a:solidFill>
            <a:srgbClr val="5A6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43814" y="1298448"/>
            <a:ext cx="1387275" cy="566928"/>
          </a:xfrm>
          <a:prstGeom prst="roundRect">
            <a:avLst>
              <a:gd name="adj" fmla="val 10000"/>
            </a:avLst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Autoencoder</a:t>
            </a:r>
          </a:p>
          <a:p>
            <a:pPr algn="ctr"/>
            <a:r>
              <a:rPr sz="1000">
                <a:solidFill>
                  <a:srgbClr val="E7EEFA"/>
                </a:solidFill>
                <a:latin typeface="Calibri"/>
              </a:rPr>
              <a:t>115→16→115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31089" y="1463040"/>
            <a:ext cx="256032" cy="237744"/>
          </a:xfrm>
          <a:prstGeom prst="rightArrow">
            <a:avLst/>
          </a:prstGeom>
          <a:solidFill>
            <a:srgbClr val="5A6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87121" y="1298448"/>
            <a:ext cx="1387275" cy="566928"/>
          </a:xfrm>
          <a:prstGeom prst="roundRect">
            <a:avLst>
              <a:gd name="adj" fmla="val 10000"/>
            </a:avLst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Federated
Training</a:t>
            </a:r>
          </a:p>
          <a:p>
            <a:pPr algn="ctr"/>
            <a:r>
              <a:rPr sz="1000">
                <a:solidFill>
                  <a:srgbClr val="E7EEFA"/>
                </a:solidFill>
                <a:latin typeface="Calibri"/>
              </a:rPr>
              <a:t>Flower + FedAvg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74396" y="1463040"/>
            <a:ext cx="256032" cy="237744"/>
          </a:xfrm>
          <a:prstGeom prst="rightArrow">
            <a:avLst/>
          </a:prstGeom>
          <a:solidFill>
            <a:srgbClr val="5A6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30428" y="1298448"/>
            <a:ext cx="1387275" cy="566928"/>
          </a:xfrm>
          <a:prstGeom prst="roundRect">
            <a:avLst>
              <a:gd name="adj" fmla="val 10000"/>
            </a:avLst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Threshold</a:t>
            </a:r>
          </a:p>
          <a:p>
            <a:pPr algn="ctr"/>
            <a:r>
              <a:rPr sz="1000">
                <a:solidFill>
                  <a:srgbClr val="E7EEFA"/>
                </a:solidFill>
                <a:latin typeface="Calibri"/>
              </a:rPr>
              <a:t>μ + 3σ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417703" y="1463040"/>
            <a:ext cx="256032" cy="237744"/>
          </a:xfrm>
          <a:prstGeom prst="rightArrow">
            <a:avLst/>
          </a:prstGeom>
          <a:solidFill>
            <a:srgbClr val="5A6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73735" y="1298448"/>
            <a:ext cx="1387275" cy="566928"/>
          </a:xfrm>
          <a:prstGeom prst="roundRect">
            <a:avLst>
              <a:gd name="adj" fmla="val 10000"/>
            </a:avLst>
          </a:prstGeom>
          <a:solidFill>
            <a:srgbClr val="01A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Threat
Score</a:t>
            </a:r>
          </a:p>
          <a:p>
            <a:pPr algn="ctr"/>
            <a:r>
              <a:rPr sz="1000">
                <a:solidFill>
                  <a:srgbClr val="E7EEFA"/>
                </a:solidFill>
                <a:latin typeface="Calibri"/>
              </a:rPr>
              <a:t>0–100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061010" y="1463040"/>
            <a:ext cx="256032" cy="237744"/>
          </a:xfrm>
          <a:prstGeom prst="rightArrow">
            <a:avLst/>
          </a:prstGeom>
          <a:solidFill>
            <a:srgbClr val="5A6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317042" y="1298448"/>
            <a:ext cx="1387275" cy="566928"/>
          </a:xfrm>
          <a:prstGeom prst="roundRect">
            <a:avLst>
              <a:gd name="adj" fmla="val 10000"/>
            </a:avLst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Explainable
AI</a:t>
            </a:r>
          </a:p>
          <a:p>
            <a:pPr algn="ctr"/>
            <a:r>
              <a:rPr sz="1000">
                <a:solidFill>
                  <a:srgbClr val="E7EEFA"/>
                </a:solidFill>
                <a:latin typeface="Calibri"/>
              </a:rPr>
              <a:t>Top-5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148840"/>
            <a:ext cx="11247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70" b="1">
                <a:solidFill>
                  <a:srgbClr val="003092"/>
                </a:solidFill>
                <a:latin typeface="Calibri"/>
              </a:rPr>
              <a:t>▸  </a:t>
            </a:r>
            <a:r>
              <a:rPr sz="1370" b="1">
                <a:solidFill>
                  <a:srgbClr val="202433"/>
                </a:solidFill>
                <a:latin typeface="Calibri"/>
              </a:rPr>
              <a:t>Dataset &amp; shared preprocessing: </a:t>
            </a:r>
            <a:r>
              <a:rPr sz="1370">
                <a:solidFill>
                  <a:srgbClr val="202433"/>
                </a:solidFill>
                <a:latin typeface="Calibri"/>
              </a:rPr>
              <a:t>N-BaIoT dataset — 9 IoT devices, 115 statistical traffic features; a single MinMaxScaler is fit once on benign traffic pooled from ALL 9 devices (not just Device 1), eliminating the multi-device false-positive problem.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70" b="1">
                <a:solidFill>
                  <a:srgbClr val="003092"/>
                </a:solidFill>
                <a:latin typeface="Calibri"/>
              </a:rPr>
              <a:t>▸  </a:t>
            </a:r>
            <a:r>
              <a:rPr sz="1370" b="1">
                <a:solidFill>
                  <a:srgbClr val="202433"/>
                </a:solidFill>
                <a:latin typeface="Calibri"/>
              </a:rPr>
              <a:t>Autoencoder architecture: </a:t>
            </a:r>
            <a:r>
              <a:rPr sz="1370">
                <a:solidFill>
                  <a:srgbClr val="202433"/>
                </a:solidFill>
                <a:latin typeface="Calibri"/>
              </a:rPr>
              <a:t>symmetric dense network 115→64→32→16→32→64→115, ReLU hidden activations, Sigmoid output, trained with Adam optimiser and Mean Squared Error loss for 20 epochs (batch size 256), on benign traffic only.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70" b="1">
                <a:solidFill>
                  <a:srgbClr val="003092"/>
                </a:solidFill>
                <a:latin typeface="Calibri"/>
              </a:rPr>
              <a:t>▸  </a:t>
            </a:r>
            <a:r>
              <a:rPr sz="1370" b="1">
                <a:solidFill>
                  <a:srgbClr val="202433"/>
                </a:solidFill>
                <a:latin typeface="Calibri"/>
              </a:rPr>
              <a:t>Federated Learning: </a:t>
            </a:r>
            <a:r>
              <a:rPr sz="1370">
                <a:solidFill>
                  <a:srgbClr val="202433"/>
                </a:solidFill>
                <a:latin typeface="Calibri"/>
              </a:rPr>
              <a:t>implemented with the Flower (flwr) framework; each of the 9 devices trains locally and shares only model weights with the server, which aggregates them using FedAvg: w_global = Σₖ (nₖ/N)·wₖ, over 3 communication rounds.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70" b="1">
                <a:solidFill>
                  <a:srgbClr val="003092"/>
                </a:solidFill>
                <a:latin typeface="Calibri"/>
              </a:rPr>
              <a:t>▸  </a:t>
            </a:r>
            <a:r>
              <a:rPr sz="1370" b="1">
                <a:solidFill>
                  <a:srgbClr val="202433"/>
                </a:solidFill>
                <a:latin typeface="Calibri"/>
              </a:rPr>
              <a:t>Threshold &amp; Threat Score: </a:t>
            </a:r>
            <a:r>
              <a:rPr sz="1370">
                <a:solidFill>
                  <a:srgbClr val="202433"/>
                </a:solidFill>
                <a:latin typeface="Calibri"/>
              </a:rPr>
              <a:t>detection threshold τ = μ(MSE_benign) + 3×σ(MSE_benign); Threat Score = min((avg_error / τ) × 100, 100), giving an intuitive 0–100 severity reading.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70" b="1">
                <a:solidFill>
                  <a:srgbClr val="003092"/>
                </a:solidFill>
                <a:latin typeface="Calibri"/>
              </a:rPr>
              <a:t>▸  </a:t>
            </a:r>
            <a:r>
              <a:rPr sz="1370" b="1">
                <a:solidFill>
                  <a:srgbClr val="202433"/>
                </a:solidFill>
                <a:latin typeface="Calibri"/>
              </a:rPr>
              <a:t>Explainable AI: </a:t>
            </a:r>
            <a:r>
              <a:rPr sz="1370">
                <a:solidFill>
                  <a:srgbClr val="202433"/>
                </a:solidFill>
                <a:latin typeface="Calibri"/>
              </a:rPr>
              <a:t>per-feature reconstruction error eᵢ = (1/m)Σⱼ(Xⱼᵢ − X̂ⱼᵢ)² is computed; the 5 highest-error features are mapped to human-readable descriptions and shown as a ranked contribution chart.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064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87853" y="242316"/>
            <a:ext cx="227524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13" y="242316"/>
            <a:ext cx="200092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1ADEF"/>
                </a:solidFill>
                <a:latin typeface="Calibri"/>
              </a:rPr>
              <a:t>EXPERIMENTAL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778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Results — Centralised vs. Federated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C9D6EE"/>
                </a:solidFill>
                <a:latin typeface="Calibri"/>
              </a:rPr>
              <a:t>M.Tech</a:t>
            </a:r>
            <a:r>
              <a:rPr sz="950" b="0" i="0" dirty="0">
                <a:solidFill>
                  <a:srgbClr val="C9D6EE"/>
                </a:solidFill>
                <a:latin typeface="Calibri"/>
              </a:rPr>
              <a:t> Summer Project |  Seshapriyan T  |  SASTRA Deemed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092"/>
                </a:solidFill>
                <a:latin typeface="Calibri"/>
              </a:rPr>
              <a:t>Performance Table (N-BaIoT test set)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664208"/>
          <a:ext cx="5532119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0030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Centralised</a:t>
                      </a:r>
                    </a:p>
                  </a:txBody>
                  <a:tcPr marL="76200" marR="76200" marT="38100" marB="38100" anchor="ctr">
                    <a:solidFill>
                      <a:srgbClr val="0030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Federated</a:t>
                      </a:r>
                    </a:p>
                  </a:txBody>
                  <a:tcPr marL="76200" marR="76200" marT="38100" marB="38100" anchor="ctr">
                    <a:solidFill>
                      <a:srgbClr val="0030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 marL="76200" marR="76200" marT="38100" marB="38100" anchor="ctr">
                    <a:solidFill>
                      <a:srgbClr val="003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89.84%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99.82%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Federated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99.65%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Centralised*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79.70%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Federated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99.65%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Centralised*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29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F1 Score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88.70%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99.82%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02433"/>
                          </a:solidFill>
                          <a:latin typeface="Calibri"/>
                        </a:rPr>
                        <a:t>Federated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27024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A6273"/>
                </a:solidFill>
                <a:latin typeface="Calibri"/>
              </a:rPr>
              <a:t>*margin ≈ 0.34% — practically negligible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70432"/>
            <a:ext cx="5440680" cy="329184"/>
          </a:xfrm>
          <a:prstGeom prst="roundRect">
            <a:avLst>
              <a:gd name="adj" fmla="val 50000"/>
            </a:avLst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Model Comparison — Accuracy / Precision / Recall / Specificity /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4406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822" y="1627632"/>
            <a:ext cx="4340315" cy="264261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02920" y="4434840"/>
            <a:ext cx="11201400" cy="169164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5371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3092"/>
                </a:solidFill>
                <a:latin typeface="Calibri"/>
              </a:rPr>
              <a:t>Observations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64608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1ADEF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Federated Autoencoder outperforms Centralised on Accuracy (+9.98 pts), Recall (+20.29 pts) and F1 (+11.12 pts).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1ADEF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Centralised has marginally higher Precision and Specificity (≈ 0.34% — negligible in practice).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01ADEF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Federated model gives stronger attack detection AND preserves privacy — raw traffic never leaves any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064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87853" y="242316"/>
            <a:ext cx="227524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13" y="242316"/>
            <a:ext cx="200092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1ADEF"/>
                </a:solidFill>
                <a:latin typeface="Calibri"/>
              </a:rPr>
              <a:t>LIVE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778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Dashboard Demonstration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C9D6EE"/>
                </a:solidFill>
                <a:latin typeface="Calibri"/>
              </a:rPr>
              <a:t>M.Tech</a:t>
            </a:r>
            <a:r>
              <a:rPr sz="950" b="0" i="0" dirty="0">
                <a:solidFill>
                  <a:srgbClr val="C9D6EE"/>
                </a:solidFill>
                <a:latin typeface="Calibri"/>
              </a:rPr>
              <a:t> Summer Project |  Seshapriyan T  |  SASTRA Deemed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98448"/>
            <a:ext cx="50749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1408176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Prediction • Verdict • Top Features</a:t>
            </a:r>
          </a:p>
        </p:txBody>
      </p:sp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13794"/>
            <a:ext cx="4892040" cy="339850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15000" y="1298448"/>
            <a:ext cx="59893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52160" y="1408176"/>
            <a:ext cx="4206240" cy="310896"/>
          </a:xfrm>
          <a:prstGeom prst="roundRect">
            <a:avLst>
              <a:gd name="adj" fmla="val 50000"/>
            </a:avLst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Threat Score • Feature Chart • Confusion Matrix • Comparison</a:t>
            </a:r>
          </a:p>
        </p:txBody>
      </p:sp>
      <p:pic>
        <p:nvPicPr>
          <p:cNvPr id="16" name="Picture 15" descr="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163" y="1801368"/>
            <a:ext cx="3472994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064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87853" y="242316"/>
            <a:ext cx="227524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13" y="242316"/>
            <a:ext cx="200092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1ADEF"/>
                </a:solidFill>
                <a:latin typeface="Calibri"/>
              </a:rPr>
              <a:t>NOVELTY &amp;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778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Comparison with Existing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C9D6EE"/>
                </a:solidFill>
                <a:latin typeface="Calibri"/>
              </a:rPr>
              <a:t>M.Tech</a:t>
            </a:r>
            <a:r>
              <a:rPr sz="950" b="0" i="0" dirty="0">
                <a:solidFill>
                  <a:srgbClr val="C9D6EE"/>
                </a:solidFill>
                <a:latin typeface="Calibri"/>
              </a:rPr>
              <a:t> Summer Project |  Seshapriyan T  |  SASTRA Deemed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984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092"/>
                </a:solidFill>
                <a:latin typeface="Calibri"/>
              </a:rPr>
              <a:t>Base Paper vs. This Implementation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09344"/>
          <a:ext cx="6126478" cy="2606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8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6200" marR="76200" marT="38100" marB="38100" anchor="ctr">
                    <a:solidFill>
                      <a:srgbClr val="0030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80" b="1">
                          <a:solidFill>
                            <a:srgbClr val="FFFFFF"/>
                          </a:solidFill>
                          <a:latin typeface="Calibri"/>
                        </a:rPr>
                        <a:t>Base Paper</a:t>
                      </a:r>
                    </a:p>
                  </a:txBody>
                  <a:tcPr marL="76200" marR="76200" marT="38100" marB="38100" anchor="ctr">
                    <a:solidFill>
                      <a:srgbClr val="0030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80" b="1">
                          <a:solidFill>
                            <a:srgbClr val="FFFFFF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 marL="76200" marR="76200" marT="38100" marB="38100" anchor="ctr">
                    <a:solidFill>
                      <a:srgbClr val="003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System type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Offline research scripts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Deployable Flask app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Single/unclear-device scaler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Shared scaler — all 9 devices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Explainable AI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Conceptual only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Top-5 feature attribution + chart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Threat Score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Not present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Normalised 0–100 score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Model options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Federated only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Centralised + Federated (selectable)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None (CLI)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>
                          <a:solidFill>
                            <a:srgbClr val="202433"/>
                          </a:solidFill>
                          <a:latin typeface="Calibri"/>
                        </a:rPr>
                        <a:t>Interactive dashboard, real-time CSV</a:t>
                      </a:r>
                    </a:p>
                  </a:txBody>
                  <a:tcPr marL="76200" marR="76200" marT="38100" marB="38100" anchor="ctr"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4361688"/>
            <a:ext cx="6126480" cy="292608"/>
          </a:xfrm>
          <a:prstGeom prst="roundRect">
            <a:avLst>
              <a:gd name="adj" fmla="val 50000"/>
            </a:avLst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My Key 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0016"/>
            <a:ext cx="6126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30" b="1">
                <a:solidFill>
                  <a:srgbClr val="01ADEF"/>
                </a:solidFill>
                <a:latin typeface="Calibri"/>
              </a:rPr>
              <a:t>▸  </a:t>
            </a:r>
            <a:r>
              <a:rPr sz="1230">
                <a:solidFill>
                  <a:srgbClr val="202433"/>
                </a:solidFill>
                <a:latin typeface="Calibri"/>
              </a:rPr>
              <a:t>Shared multi-device MinMaxScaler (fixes false-positive bug)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30" b="1">
                <a:solidFill>
                  <a:srgbClr val="01ADEF"/>
                </a:solidFill>
                <a:latin typeface="Calibri"/>
              </a:rPr>
              <a:t>▸  </a:t>
            </a:r>
            <a:r>
              <a:rPr sz="1230">
                <a:solidFill>
                  <a:srgbClr val="202433"/>
                </a:solidFill>
                <a:latin typeface="Calibri"/>
              </a:rPr>
              <a:t>Improved, reproducible preprocessing pipeline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30" b="1">
                <a:solidFill>
                  <a:srgbClr val="01ADEF"/>
                </a:solidFill>
                <a:latin typeface="Calibri"/>
              </a:rPr>
              <a:t>▸  </a:t>
            </a:r>
            <a:r>
              <a:rPr sz="1230">
                <a:solidFill>
                  <a:srgbClr val="202433"/>
                </a:solidFill>
                <a:latin typeface="Calibri"/>
              </a:rPr>
              <a:t>Interactive Flask dashboard with real-time CSV inference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30" b="1">
                <a:solidFill>
                  <a:srgbClr val="01ADEF"/>
                </a:solidFill>
                <a:latin typeface="Calibri"/>
              </a:rPr>
              <a:t>▸  </a:t>
            </a:r>
            <a:r>
              <a:rPr sz="1230">
                <a:solidFill>
                  <a:srgbClr val="202433"/>
                </a:solidFill>
                <a:latin typeface="Calibri"/>
              </a:rPr>
              <a:t>Explainable AI, Threat Score &amp; live model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298448"/>
            <a:ext cx="4937760" cy="310896"/>
          </a:xfrm>
          <a:prstGeom prst="roundRect">
            <a:avLst>
              <a:gd name="adj" fmla="val 50000"/>
            </a:avLst>
          </a:prstGeom>
          <a:solidFill>
            <a:srgbClr val="1B7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Merits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682496"/>
            <a:ext cx="4937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1B7F3E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High accuracy (≈99.68% overall) with no attack labels needed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1B7F3E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Privacy-preserving: only model weights transmitted (GDPR-aligned)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1B7F3E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Multi-device robustness — no distribution-mismatch false positives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1B7F3E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Explainable, interpretable verdicts for security analysts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1B7F3E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Dual-model (Centralised vs. Federated) side-by-side comparison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4178808"/>
            <a:ext cx="493776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62856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C0392B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Offline, CSV-only — no live packet-stream monitoring yet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C0392B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Static threshold does not adapt to gradual concept drift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C0392B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File-level verdict only — no per-flow granularity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60" b="1">
                <a:solidFill>
                  <a:srgbClr val="C0392B"/>
                </a:solidFill>
                <a:latin typeface="Calibri"/>
              </a:rPr>
              <a:t>▸  </a:t>
            </a:r>
            <a:r>
              <a:rPr sz="1260">
                <a:solidFill>
                  <a:srgbClr val="202433"/>
                </a:solidFill>
                <a:latin typeface="Calibri"/>
              </a:rPr>
              <a:t>Federated clients simulated on a single machine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0640"/>
          </a:xfrm>
          <a:prstGeom prst="rect">
            <a:avLst/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87853" y="242316"/>
            <a:ext cx="227524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013" y="242316"/>
            <a:ext cx="200092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1ADEF"/>
                </a:solidFill>
                <a:latin typeface="Calibri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778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C9D6EE"/>
                </a:solidFill>
                <a:latin typeface="Calibri"/>
              </a:rPr>
              <a:t>M.Tech</a:t>
            </a:r>
            <a:r>
              <a:rPr sz="950" b="0" i="0" dirty="0">
                <a:solidFill>
                  <a:srgbClr val="C9D6EE"/>
                </a:solidFill>
                <a:latin typeface="Calibri"/>
              </a:rPr>
              <a:t> Summer Project |  Seshapriyan T  |  SASTRA Deemed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98448"/>
            <a:ext cx="5623560" cy="310896"/>
          </a:xfrm>
          <a:prstGeom prst="roundRect">
            <a:avLst>
              <a:gd name="adj" fmla="val 50000"/>
            </a:avLst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00784"/>
            <a:ext cx="5623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01ADEF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Delivered a Federated IoT Threat Intelligence Dashboard combining Autoencoder-based unsupervised detection, Federated Learning, and Explainable AI.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01ADEF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Achieved ≈99.68% overall accuracy on N-BaIoT without any labelled attack data.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01ADEF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Fixed a real multi-device preprocessing bug with a shared MinMaxScaler, improving consistency across all 9 heterogeneous devices.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01ADEF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Delivered feature-level explanations, a Threat Score, and an interactive dashboard — a practical, privacy-preserving IDS tool.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98448"/>
            <a:ext cx="5349240" cy="310896"/>
          </a:xfrm>
          <a:prstGeom prst="roundRect">
            <a:avLst>
              <a:gd name="adj" fmla="val 50000"/>
            </a:avLst>
          </a:prstGeom>
          <a:solidFill>
            <a:srgbClr val="EF7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00784"/>
            <a:ext cx="5349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EF7F1B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Real-time traffic capture (Scapy/libpcap) instead of CSV-only analysis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EF7F1B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Live IDS integration with Suricata / Zeek for SOC deployment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EF7F1B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Differential privacy (gradient noise) for formal FL privacy guarantees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EF7F1B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Edge AI deployment via TensorFlow Lite on resource-constrained devices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EF7F1B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Cloud deployment (Docker + AWS/GCP/Render) for scalable public access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EF7F1B"/>
                </a:solidFill>
                <a:latin typeface="Calibri"/>
              </a:rPr>
              <a:t>▸  </a:t>
            </a:r>
            <a:r>
              <a:rPr sz="1300">
                <a:solidFill>
                  <a:srgbClr val="202433"/>
                </a:solidFill>
                <a:latin typeface="Calibri"/>
              </a:rPr>
              <a:t>Cross-dataset evaluation (IoT-23, MQTTset, UNSW-NB15) for generalisation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742432"/>
            <a:ext cx="12191695" cy="777240"/>
          </a:xfrm>
          <a:prstGeom prst="rect">
            <a:avLst/>
          </a:prstGeom>
          <a:solidFill>
            <a:srgbClr val="003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0" y="5760720"/>
            <a:ext cx="121916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Thank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Yo</a:t>
            </a:r>
            <a:r>
              <a:rPr lang="en-IN" sz="2200" b="1" i="0" dirty="0">
                <a:solidFill>
                  <a:srgbClr val="FFFFFF"/>
                </a:solidFill>
                <a:latin typeface="Calibri"/>
              </a:rPr>
              <a:t>u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1126</Words>
  <Application>Microsoft Office PowerPoint</Application>
  <PresentationFormat>Widescreen</PresentationFormat>
  <Paragraphs>153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Seshapriyan T</cp:lastModifiedBy>
  <cp:revision>10</cp:revision>
  <dcterms:created xsi:type="dcterms:W3CDTF">2013-01-27T09:14:16Z</dcterms:created>
  <dcterms:modified xsi:type="dcterms:W3CDTF">2026-07-15T17:06:19Z</dcterms:modified>
  <cp:category/>
</cp:coreProperties>
</file>